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DBC Guard helps people understand a Meteora token launch before their first trade. Give it a token or pool address, and it brings fees, token controls and liquidity arrangements into one clear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a token is only the beginning. People also want to know who controls it, which fees apply and what happens to liquidity. Those are the questions DBC Guard is built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product. Paste an address, open the report and explore eight checks. The findings stay close to their evidence, so people can understand what they are looking at and share the report with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brings together token controls, trading fees, creator allocations, liquidity commitments and launch progress. People get a readable starting point for their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Meteora gives creators flexibility in how they launch tokens. DBC Guard makes those choices more accessible to people exploring the Meteora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already use tools for token risk, market charts and blockchain records. DBC Guard adds a focused view of Meteora launch settings and what those choices mean. It fits alongside existing research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DBC Guard is available today on desktop and mobile without an account or connected wallet. It has been validated across 100 real Meteora DBC pools. This is product-validation evidence, not a count of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Daniyar Gabdullin, a product builder working across blockchain and AI. I have been building in crypto since 2019 and created Seeker Vault and X-Booster. My background combines information-security education with technical leadership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DBC Guard at dbc.whoim.space. Paste a token, review the launch and share the findings. The product is live and the project is open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bc.whoim.space" TargetMode="External"/><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ortfolio.whoim.space" TargetMode="External"/><Relationship Id="rId2" Type="http://schemas.openxmlformats.org/officeDocument/2006/relationships/hyperlink" Target="https://www.linkedin.com/in/daniyar-gabdullin-11312b252/"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bc.whoim.space" TargetMode="External"/><Relationship Id="rId2" Type="http://schemas.openxmlformats.org/officeDocument/2006/relationships/hyperlink" Target="https://github.com/who1900/dbc-guard" TargetMode="External"/><Relationship Id="rId3"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01 / DBC GUARD</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01 / 09</a:t>
            </a:r>
            <a:endParaRPr lang="en-US" sz="900" dirty="0"/>
          </a:p>
        </p:txBody>
      </p:sp>
      <p:sp>
        <p:nvSpPr>
          <p:cNvPr id="5" name="Text 3"/>
          <p:cNvSpPr/>
          <p:nvPr/>
        </p:nvSpPr>
        <p:spPr>
          <a:xfrm>
            <a:off x="685800" y="1060704"/>
            <a:ext cx="5029200" cy="256032"/>
          </a:xfrm>
          <a:prstGeom prst="rect">
            <a:avLst/>
          </a:prstGeom>
          <a:noFill/>
          <a:ln/>
        </p:spPr>
        <p:txBody>
          <a:bodyPr wrap="square" lIns="0" tIns="0" rIns="0" bIns="0" rtlCol="0" anchor="ctr"/>
          <a:lstStyle/>
          <a:p>
            <a:pPr indent="0" marL="0">
              <a:buNone/>
            </a:pPr>
            <a:r>
              <a:rPr lang="en-US" sz="1300" spc="200" kern="0" dirty="0">
                <a:solidFill>
                  <a:srgbClr val="1A1A1A"/>
                </a:solidFill>
                <a:latin typeface="Courier New" pitchFamily="34" charset="0"/>
                <a:ea typeface="Courier New" pitchFamily="34" charset="-122"/>
                <a:cs typeface="Courier New" pitchFamily="34" charset="-120"/>
              </a:rPr>
              <a:t>DBC / GUARD</a:t>
            </a:r>
            <a:endParaRPr lang="en-US" sz="1300" dirty="0"/>
          </a:p>
        </p:txBody>
      </p:sp>
      <p:sp>
        <p:nvSpPr>
          <p:cNvPr id="6" name="Text 4"/>
          <p:cNvSpPr/>
          <p:nvPr/>
        </p:nvSpPr>
        <p:spPr>
          <a:xfrm>
            <a:off x="685800" y="1664208"/>
            <a:ext cx="5897880" cy="2057400"/>
          </a:xfrm>
          <a:prstGeom prst="rect">
            <a:avLst/>
          </a:prstGeom>
          <a:noFill/>
          <a:ln/>
        </p:spPr>
        <p:txBody>
          <a:bodyPr wrap="square" lIns="0" tIns="0" rIns="0" bIns="0" rtlCol="0" anchor="t"/>
          <a:lstStyle/>
          <a:p>
            <a:pPr indent="0" marL="0">
              <a:lnSpc>
                <a:spcPct val="100000"/>
              </a:lnSpc>
              <a:buNone/>
            </a:pPr>
            <a:r>
              <a:rPr lang="en-US" sz="4300" b="1" spc="-70" kern="0" dirty="0">
                <a:solidFill>
                  <a:srgbClr val="1A1A1A"/>
                </a:solidFill>
                <a:latin typeface="Arial" pitchFamily="34" charset="0"/>
                <a:ea typeface="Arial" pitchFamily="34" charset="-122"/>
                <a:cs typeface="Arial" pitchFamily="34" charset="-120"/>
              </a:rPr>
              <a:t>Understand a</a:t>
            </a:r>
            <a:endParaRPr lang="en-US" sz="4300" dirty="0"/>
          </a:p>
          <a:p>
            <a:pPr indent="0" marL="0">
              <a:lnSpc>
                <a:spcPct val="100000"/>
              </a:lnSpc>
              <a:buNone/>
            </a:pPr>
            <a:r>
              <a:rPr lang="en-US" sz="4300" b="1" spc="-70" kern="0" dirty="0">
                <a:solidFill>
                  <a:srgbClr val="1A1A1A"/>
                </a:solidFill>
                <a:latin typeface="Arial" pitchFamily="34" charset="0"/>
                <a:ea typeface="Arial" pitchFamily="34" charset="-122"/>
                <a:cs typeface="Arial" pitchFamily="34" charset="-120"/>
              </a:rPr>
              <a:t>Meteora launch</a:t>
            </a:r>
            <a:endParaRPr lang="en-US" sz="4300" dirty="0"/>
          </a:p>
          <a:p>
            <a:pPr indent="0" marL="0">
              <a:lnSpc>
                <a:spcPct val="100000"/>
              </a:lnSpc>
              <a:buNone/>
            </a:pPr>
            <a:r>
              <a:rPr lang="en-US" sz="4300" b="1" spc="-70" kern="0" dirty="0">
                <a:solidFill>
                  <a:srgbClr val="1A1A1A"/>
                </a:solidFill>
                <a:latin typeface="Arial" pitchFamily="34" charset="0"/>
                <a:ea typeface="Arial" pitchFamily="34" charset="-122"/>
                <a:cs typeface="Arial" pitchFamily="34" charset="-120"/>
              </a:rPr>
              <a:t>before you trade.</a:t>
            </a:r>
            <a:endParaRPr lang="en-US" sz="4300" dirty="0"/>
          </a:p>
        </p:txBody>
      </p:sp>
      <p:sp>
        <p:nvSpPr>
          <p:cNvPr id="7" name="Text 5"/>
          <p:cNvSpPr/>
          <p:nvPr/>
        </p:nvSpPr>
        <p:spPr>
          <a:xfrm>
            <a:off x="685800" y="3977640"/>
            <a:ext cx="5257800" cy="1097280"/>
          </a:xfrm>
          <a:prstGeom prst="rect">
            <a:avLst/>
          </a:prstGeom>
          <a:noFill/>
          <a:ln/>
        </p:spPr>
        <p:txBody>
          <a:bodyPr wrap="square" lIns="0" tIns="0" rIns="0" bIns="0" rtlCol="0" anchor="t"/>
          <a:lstStyle/>
          <a:p>
            <a:pPr indent="0" marL="0">
              <a:lnSpc>
                <a:spcPct val="115000"/>
              </a:lnSpc>
              <a:buNone/>
            </a:pPr>
            <a:r>
              <a:rPr lang="en-US" sz="2300" dirty="0">
                <a:solidFill>
                  <a:srgbClr val="1A1A1A"/>
                </a:solidFill>
                <a:latin typeface="Arial" pitchFamily="34" charset="0"/>
                <a:ea typeface="Arial" pitchFamily="34" charset="-122"/>
                <a:cs typeface="Arial" pitchFamily="34" charset="-120"/>
              </a:rPr>
              <a:t>Turn a token or pool address into a clear review of fees, token controls and liquidity.</a:t>
            </a:r>
            <a:endParaRPr lang="en-US" sz="2300" dirty="0"/>
          </a:p>
        </p:txBody>
      </p:sp>
      <p:sp>
        <p:nvSpPr>
          <p:cNvPr id="8" name="Text 6">
            <a:hlinkClick r:id="rId1" tooltip="Live at dbc.whoim.space"/>
          </p:cNvPr>
          <p:cNvSpPr/>
          <p:nvPr/>
        </p:nvSpPr>
        <p:spPr>
          <a:xfrm>
            <a:off x="685800" y="5532120"/>
            <a:ext cx="5029200" cy="320040"/>
          </a:xfrm>
          <a:prstGeom prst="rect">
            <a:avLst/>
          </a:prstGeom>
          <a:noFill/>
          <a:ln/>
        </p:spPr>
        <p:txBody>
          <a:bodyPr wrap="square" lIns="0" tIns="0" rIns="0" bIns="0" rtlCol="0" anchor="ctr"/>
          <a:lstStyle/>
          <a:p>
            <a:pPr indent="0" marL="0">
              <a:buNone/>
            </a:pPr>
            <a:r>
              <a:rPr lang="en-US" sz="1500" u="sng" dirty="0">
                <a:solidFill>
                  <a:srgbClr val="1A1A1A"/>
                </a:solidFill>
                <a:latin typeface="Arial" pitchFamily="34" charset="0"/>
                <a:ea typeface="Arial" pitchFamily="34" charset="-122"/>
                <a:cs typeface="Arial" pitchFamily="34" charset="-120"/>
                <a:hlinkClick r:id="rId1" invalidUrl="" action="" tgtFrame="" tooltip="Live at dbc.whoim.space" history="1" highlightClick="0" endSnd="0">
                  <a:extLst>
                    <a:ext uri="{A12FA001-AC4F-418D-AE19-62706E023703}">
                      <ahyp:hlinkClr xmlns:ahyp="http://schemas.microsoft.com/office/drawing/2018/hyperlinkcolor" val="tx"/>
                    </a:ext>
                  </a:extLst>
                </a:hlinkClick>
              </a:rPr>
              <a:t>Live at dbc.whoim.space</a:t>
            </a:r>
            <a:endParaRPr lang="en-US" sz="1500" dirty="0"/>
          </a:p>
        </p:txBody>
      </p:sp>
      <p:sp>
        <p:nvSpPr>
          <p:cNvPr id="9" name="Shape 7"/>
          <p:cNvSpPr/>
          <p:nvPr/>
        </p:nvSpPr>
        <p:spPr>
          <a:xfrm>
            <a:off x="6812280" y="1280160"/>
            <a:ext cx="4663440" cy="4526280"/>
          </a:xfrm>
          <a:prstGeom prst="rect">
            <a:avLst/>
          </a:prstGeom>
          <a:solidFill>
            <a:srgbClr val="EEEFE5"/>
          </a:solidFill>
          <a:ln w="12700">
            <a:solidFill>
              <a:srgbClr val="EEEFE5">
                <a:alpha val="0"/>
              </a:srgbClr>
            </a:solidFill>
            <a:prstDash val="solid"/>
          </a:ln>
        </p:spPr>
      </p:sp>
      <p:pic>
        <p:nvPicPr>
          <p:cNvPr id="10" name="Image 0" descr="C:\Users\User\Documents\work\Claude\dbc-guard\output\presentation\product-hero-crop.png">    </p:cNvPr>
          <p:cNvPicPr>
            <a:picLocks noChangeAspect="1"/>
          </p:cNvPicPr>
          <p:nvPr/>
        </p:nvPicPr>
        <p:blipFill>
          <a:blip r:embed="rId2"/>
          <a:stretch>
            <a:fillRect/>
          </a:stretch>
        </p:blipFill>
        <p:spPr>
          <a:xfrm>
            <a:off x="6995160" y="1463040"/>
            <a:ext cx="4297680" cy="425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02 / THE PROBLEM</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02 / 09</a:t>
            </a:r>
            <a:endParaRPr lang="en-US" sz="900" dirty="0"/>
          </a:p>
        </p:txBody>
      </p:sp>
      <p:sp>
        <p:nvSpPr>
          <p:cNvPr id="5" name="Text 3"/>
          <p:cNvSpPr/>
          <p:nvPr/>
        </p:nvSpPr>
        <p:spPr>
          <a:xfrm>
            <a:off x="685800" y="1051560"/>
            <a:ext cx="10789920" cy="1371600"/>
          </a:xfrm>
          <a:prstGeom prst="rect">
            <a:avLst/>
          </a:prstGeom>
          <a:noFill/>
          <a:ln/>
        </p:spPr>
        <p:txBody>
          <a:bodyPr wrap="square" lIns="0" tIns="0" rIns="0" bIns="0" rtlCol="0" anchor="t"/>
          <a:lstStyle/>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You found the token.</a:t>
            </a:r>
            <a:endParaRPr lang="en-US" sz="4200" dirty="0"/>
          </a:p>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Now understand the launch.</a:t>
            </a:r>
            <a:endParaRPr lang="en-US" sz="4200" dirty="0"/>
          </a:p>
        </p:txBody>
      </p:sp>
      <p:sp>
        <p:nvSpPr>
          <p:cNvPr id="6" name="Text 4"/>
          <p:cNvSpPr/>
          <p:nvPr/>
        </p:nvSpPr>
        <p:spPr>
          <a:xfrm>
            <a:off x="685800" y="2724912"/>
            <a:ext cx="10607040" cy="50292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Before their first trade, people want answers.</a:t>
            </a:r>
            <a:endParaRPr lang="en-US" sz="2400" dirty="0"/>
          </a:p>
        </p:txBody>
      </p:sp>
      <p:sp>
        <p:nvSpPr>
          <p:cNvPr id="7" name="Shape 5"/>
          <p:cNvSpPr/>
          <p:nvPr/>
        </p:nvSpPr>
        <p:spPr>
          <a:xfrm>
            <a:off x="685800" y="3657600"/>
            <a:ext cx="3456432" cy="1938528"/>
          </a:xfrm>
          <a:prstGeom prst="rect">
            <a:avLst/>
          </a:prstGeom>
          <a:solidFill>
            <a:srgbClr val="EEEFE5"/>
          </a:solidFill>
          <a:ln w="12700">
            <a:solidFill>
              <a:srgbClr val="EEEFE5">
                <a:alpha val="0"/>
              </a:srgbClr>
            </a:solidFill>
            <a:prstDash val="solid"/>
          </a:ln>
        </p:spPr>
      </p:sp>
      <p:sp>
        <p:nvSpPr>
          <p:cNvPr id="8" name="Text 6"/>
          <p:cNvSpPr/>
          <p:nvPr/>
        </p:nvSpPr>
        <p:spPr>
          <a:xfrm>
            <a:off x="905256" y="3886200"/>
            <a:ext cx="3017520" cy="256032"/>
          </a:xfrm>
          <a:prstGeom prst="rect">
            <a:avLst/>
          </a:prstGeom>
          <a:noFill/>
          <a:ln/>
        </p:spPr>
        <p:txBody>
          <a:bodyPr wrap="square" lIns="0" tIns="0" rIns="0" bIns="0" rtlCol="0" anchor="ctr"/>
          <a:lstStyle/>
          <a:p>
            <a:pPr indent="0" marL="0">
              <a:buNone/>
            </a:pPr>
            <a:r>
              <a:rPr lang="en-US" sz="1100" dirty="0">
                <a:solidFill>
                  <a:srgbClr val="65685E"/>
                </a:solidFill>
                <a:latin typeface="Courier New" pitchFamily="34" charset="0"/>
                <a:ea typeface="Courier New" pitchFamily="34" charset="-122"/>
                <a:cs typeface="Courier New" pitchFamily="34" charset="-120"/>
              </a:rPr>
              <a:t>01 / CONTROL</a:t>
            </a:r>
            <a:endParaRPr lang="en-US" sz="1100" dirty="0"/>
          </a:p>
        </p:txBody>
      </p:sp>
      <p:sp>
        <p:nvSpPr>
          <p:cNvPr id="9" name="Text 7"/>
          <p:cNvSpPr/>
          <p:nvPr/>
        </p:nvSpPr>
        <p:spPr>
          <a:xfrm>
            <a:off x="905256" y="4462272"/>
            <a:ext cx="2999232" cy="868680"/>
          </a:xfrm>
          <a:prstGeom prst="rect">
            <a:avLst/>
          </a:prstGeom>
          <a:noFill/>
          <a:ln/>
        </p:spPr>
        <p:txBody>
          <a:bodyPr wrap="square" lIns="0" tIns="0" rIns="0" bIns="0" rtlCol="0" anchor="t"/>
          <a:lstStyle/>
          <a:p>
            <a:pPr indent="0" marL="0">
              <a:buNone/>
            </a:pPr>
            <a:r>
              <a:rPr lang="en-US" sz="2600" dirty="0">
                <a:solidFill>
                  <a:srgbClr val="1A1A1A"/>
                </a:solidFill>
                <a:latin typeface="Arial" pitchFamily="34" charset="0"/>
                <a:ea typeface="Arial" pitchFamily="34" charset="-122"/>
                <a:cs typeface="Arial" pitchFamily="34" charset="-120"/>
              </a:rPr>
              <a:t>Who controls</a:t>
            </a:r>
            <a:endParaRPr lang="en-US" sz="2600" dirty="0"/>
          </a:p>
          <a:p>
            <a:pPr indent="0" marL="0">
              <a:buNone/>
            </a:pPr>
            <a:r>
              <a:rPr lang="en-US" sz="2600" dirty="0">
                <a:solidFill>
                  <a:srgbClr val="1A1A1A"/>
                </a:solidFill>
                <a:latin typeface="Arial" pitchFamily="34" charset="0"/>
                <a:ea typeface="Arial" pitchFamily="34" charset="-122"/>
                <a:cs typeface="Arial" pitchFamily="34" charset="-120"/>
              </a:rPr>
              <a:t>the token?</a:t>
            </a:r>
            <a:endParaRPr lang="en-US" sz="2600" dirty="0"/>
          </a:p>
        </p:txBody>
      </p:sp>
      <p:sp>
        <p:nvSpPr>
          <p:cNvPr id="10" name="Shape 8"/>
          <p:cNvSpPr/>
          <p:nvPr/>
        </p:nvSpPr>
        <p:spPr>
          <a:xfrm>
            <a:off x="4343400" y="3657600"/>
            <a:ext cx="3456432" cy="1938528"/>
          </a:xfrm>
          <a:prstGeom prst="rect">
            <a:avLst/>
          </a:prstGeom>
          <a:solidFill>
            <a:srgbClr val="EEEFE5"/>
          </a:solidFill>
          <a:ln w="12700">
            <a:solidFill>
              <a:srgbClr val="EEEFE5">
                <a:alpha val="0"/>
              </a:srgbClr>
            </a:solidFill>
            <a:prstDash val="solid"/>
          </a:ln>
        </p:spPr>
      </p:sp>
      <p:sp>
        <p:nvSpPr>
          <p:cNvPr id="11" name="Text 9"/>
          <p:cNvSpPr/>
          <p:nvPr/>
        </p:nvSpPr>
        <p:spPr>
          <a:xfrm>
            <a:off x="4562856" y="3886200"/>
            <a:ext cx="3017520" cy="256032"/>
          </a:xfrm>
          <a:prstGeom prst="rect">
            <a:avLst/>
          </a:prstGeom>
          <a:noFill/>
          <a:ln/>
        </p:spPr>
        <p:txBody>
          <a:bodyPr wrap="square" lIns="0" tIns="0" rIns="0" bIns="0" rtlCol="0" anchor="ctr"/>
          <a:lstStyle/>
          <a:p>
            <a:pPr indent="0" marL="0">
              <a:buNone/>
            </a:pPr>
            <a:r>
              <a:rPr lang="en-US" sz="1100" dirty="0">
                <a:solidFill>
                  <a:srgbClr val="65685E"/>
                </a:solidFill>
                <a:latin typeface="Courier New" pitchFamily="34" charset="0"/>
                <a:ea typeface="Courier New" pitchFamily="34" charset="-122"/>
                <a:cs typeface="Courier New" pitchFamily="34" charset="-120"/>
              </a:rPr>
              <a:t>02 / COSTS</a:t>
            </a:r>
            <a:endParaRPr lang="en-US" sz="1100" dirty="0"/>
          </a:p>
        </p:txBody>
      </p:sp>
      <p:sp>
        <p:nvSpPr>
          <p:cNvPr id="12" name="Text 10"/>
          <p:cNvSpPr/>
          <p:nvPr/>
        </p:nvSpPr>
        <p:spPr>
          <a:xfrm>
            <a:off x="4562856" y="4462272"/>
            <a:ext cx="2999232" cy="868680"/>
          </a:xfrm>
          <a:prstGeom prst="rect">
            <a:avLst/>
          </a:prstGeom>
          <a:noFill/>
          <a:ln/>
        </p:spPr>
        <p:txBody>
          <a:bodyPr wrap="square" lIns="0" tIns="0" rIns="0" bIns="0" rtlCol="0" anchor="t"/>
          <a:lstStyle/>
          <a:p>
            <a:pPr indent="0" marL="0">
              <a:buNone/>
            </a:pPr>
            <a:r>
              <a:rPr lang="en-US" sz="2600" dirty="0">
                <a:solidFill>
                  <a:srgbClr val="1A1A1A"/>
                </a:solidFill>
                <a:latin typeface="Arial" pitchFamily="34" charset="0"/>
                <a:ea typeface="Arial" pitchFamily="34" charset="-122"/>
                <a:cs typeface="Arial" pitchFamily="34" charset="-120"/>
              </a:rPr>
              <a:t>What fees</a:t>
            </a:r>
            <a:endParaRPr lang="en-US" sz="2600" dirty="0"/>
          </a:p>
          <a:p>
            <a:pPr indent="0" marL="0">
              <a:buNone/>
            </a:pPr>
            <a:r>
              <a:rPr lang="en-US" sz="2600" dirty="0">
                <a:solidFill>
                  <a:srgbClr val="1A1A1A"/>
                </a:solidFill>
                <a:latin typeface="Arial" pitchFamily="34" charset="0"/>
                <a:ea typeface="Arial" pitchFamily="34" charset="-122"/>
                <a:cs typeface="Arial" pitchFamily="34" charset="-120"/>
              </a:rPr>
              <a:t>apply?</a:t>
            </a:r>
            <a:endParaRPr lang="en-US" sz="2600" dirty="0"/>
          </a:p>
        </p:txBody>
      </p:sp>
      <p:sp>
        <p:nvSpPr>
          <p:cNvPr id="13" name="Shape 11"/>
          <p:cNvSpPr/>
          <p:nvPr/>
        </p:nvSpPr>
        <p:spPr>
          <a:xfrm>
            <a:off x="8001000" y="3657600"/>
            <a:ext cx="3456432" cy="1938528"/>
          </a:xfrm>
          <a:prstGeom prst="rect">
            <a:avLst/>
          </a:prstGeom>
          <a:solidFill>
            <a:srgbClr val="EEEFE5"/>
          </a:solidFill>
          <a:ln w="12700">
            <a:solidFill>
              <a:srgbClr val="EEEFE5">
                <a:alpha val="0"/>
              </a:srgbClr>
            </a:solidFill>
            <a:prstDash val="solid"/>
          </a:ln>
        </p:spPr>
      </p:sp>
      <p:sp>
        <p:nvSpPr>
          <p:cNvPr id="14" name="Text 12"/>
          <p:cNvSpPr/>
          <p:nvPr/>
        </p:nvSpPr>
        <p:spPr>
          <a:xfrm>
            <a:off x="8220456" y="3886200"/>
            <a:ext cx="3017520" cy="256032"/>
          </a:xfrm>
          <a:prstGeom prst="rect">
            <a:avLst/>
          </a:prstGeom>
          <a:noFill/>
          <a:ln/>
        </p:spPr>
        <p:txBody>
          <a:bodyPr wrap="square" lIns="0" tIns="0" rIns="0" bIns="0" rtlCol="0" anchor="ctr"/>
          <a:lstStyle/>
          <a:p>
            <a:pPr indent="0" marL="0">
              <a:buNone/>
            </a:pPr>
            <a:r>
              <a:rPr lang="en-US" sz="1100" dirty="0">
                <a:solidFill>
                  <a:srgbClr val="65685E"/>
                </a:solidFill>
                <a:latin typeface="Courier New" pitchFamily="34" charset="0"/>
                <a:ea typeface="Courier New" pitchFamily="34" charset="-122"/>
                <a:cs typeface="Courier New" pitchFamily="34" charset="-120"/>
              </a:rPr>
              <a:t>03 / LIQUIDITY</a:t>
            </a:r>
            <a:endParaRPr lang="en-US" sz="1100" dirty="0"/>
          </a:p>
        </p:txBody>
      </p:sp>
      <p:sp>
        <p:nvSpPr>
          <p:cNvPr id="15" name="Text 13"/>
          <p:cNvSpPr/>
          <p:nvPr/>
        </p:nvSpPr>
        <p:spPr>
          <a:xfrm>
            <a:off x="8220456" y="4462272"/>
            <a:ext cx="2999232" cy="868680"/>
          </a:xfrm>
          <a:prstGeom prst="rect">
            <a:avLst/>
          </a:prstGeom>
          <a:noFill/>
          <a:ln/>
        </p:spPr>
        <p:txBody>
          <a:bodyPr wrap="square" lIns="0" tIns="0" rIns="0" bIns="0" rtlCol="0" anchor="t"/>
          <a:lstStyle/>
          <a:p>
            <a:pPr indent="0" marL="0">
              <a:buNone/>
            </a:pPr>
            <a:r>
              <a:rPr lang="en-US" sz="2600" dirty="0">
                <a:solidFill>
                  <a:srgbClr val="1A1A1A"/>
                </a:solidFill>
                <a:latin typeface="Arial" pitchFamily="34" charset="0"/>
                <a:ea typeface="Arial" pitchFamily="34" charset="-122"/>
                <a:cs typeface="Arial" pitchFamily="34" charset="-120"/>
              </a:rPr>
              <a:t>What happens</a:t>
            </a:r>
            <a:endParaRPr lang="en-US" sz="2600" dirty="0"/>
          </a:p>
          <a:p>
            <a:pPr indent="0" marL="0">
              <a:buNone/>
            </a:pPr>
            <a:r>
              <a:rPr lang="en-US" sz="2600" dirty="0">
                <a:solidFill>
                  <a:srgbClr val="1A1A1A"/>
                </a:solidFill>
                <a:latin typeface="Arial" pitchFamily="34" charset="0"/>
                <a:ea typeface="Arial" pitchFamily="34" charset="-122"/>
                <a:cs typeface="Arial" pitchFamily="34" charset="-120"/>
              </a:rPr>
              <a:t>to liquidity?</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03 / THE PRODUCT</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03 / 09</a:t>
            </a:r>
            <a:endParaRPr lang="en-US" sz="900" dirty="0"/>
          </a:p>
        </p:txBody>
      </p:sp>
      <p:sp>
        <p:nvSpPr>
          <p:cNvPr id="5" name="Text 3"/>
          <p:cNvSpPr/>
          <p:nvPr/>
        </p:nvSpPr>
        <p:spPr>
          <a:xfrm>
            <a:off x="685800" y="1143000"/>
            <a:ext cx="3931920" cy="1965960"/>
          </a:xfrm>
          <a:prstGeom prst="rect">
            <a:avLst/>
          </a:prstGeom>
          <a:noFill/>
          <a:ln/>
        </p:spPr>
        <p:txBody>
          <a:bodyPr wrap="square" lIns="0" tIns="0" rIns="0" bIns="0" rtlCol="0" anchor="t"/>
          <a:lstStyle/>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One address.</a:t>
            </a:r>
            <a:endParaRPr lang="en-US" sz="4200" dirty="0"/>
          </a:p>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A clearer</a:t>
            </a:r>
            <a:endParaRPr lang="en-US" sz="4200" dirty="0"/>
          </a:p>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picture.</a:t>
            </a:r>
            <a:endParaRPr lang="en-US" sz="4200" dirty="0"/>
          </a:p>
        </p:txBody>
      </p:sp>
      <p:sp>
        <p:nvSpPr>
          <p:cNvPr id="6" name="Text 4"/>
          <p:cNvSpPr/>
          <p:nvPr/>
        </p:nvSpPr>
        <p:spPr>
          <a:xfrm>
            <a:off x="685800" y="3474720"/>
            <a:ext cx="347472" cy="457200"/>
          </a:xfrm>
          <a:prstGeom prst="rect">
            <a:avLst/>
          </a:prstGeom>
          <a:noFill/>
          <a:ln/>
        </p:spPr>
        <p:txBody>
          <a:bodyPr wrap="square" lIns="0" tIns="0" rIns="0" bIns="0" rtlCol="0" anchor="t"/>
          <a:lstStyle/>
          <a:p>
            <a:pPr indent="0" marL="0">
              <a:buNone/>
            </a:pPr>
            <a:r>
              <a:rPr lang="en-US" sz="1200" dirty="0">
                <a:solidFill>
                  <a:srgbClr val="65685E"/>
                </a:solidFill>
                <a:latin typeface="Courier New" pitchFamily="34" charset="0"/>
                <a:ea typeface="Courier New" pitchFamily="34" charset="-122"/>
                <a:cs typeface="Courier New" pitchFamily="34" charset="-120"/>
              </a:rPr>
              <a:t>01</a:t>
            </a:r>
            <a:endParaRPr lang="en-US" sz="1200" dirty="0"/>
          </a:p>
        </p:txBody>
      </p:sp>
      <p:sp>
        <p:nvSpPr>
          <p:cNvPr id="7" name="Text 5"/>
          <p:cNvSpPr/>
          <p:nvPr/>
        </p:nvSpPr>
        <p:spPr>
          <a:xfrm>
            <a:off x="1115568" y="3429000"/>
            <a:ext cx="3246120" cy="621792"/>
          </a:xfrm>
          <a:prstGeom prst="rect">
            <a:avLst/>
          </a:prstGeom>
          <a:noFill/>
          <a:ln/>
        </p:spPr>
        <p:txBody>
          <a:bodyPr wrap="square" lIns="0" tIns="0" rIns="0" bIns="0" rtlCol="0" anchor="t"/>
          <a:lstStyle/>
          <a:p>
            <a:pPr indent="0" marL="0">
              <a:buNone/>
            </a:pPr>
            <a:r>
              <a:rPr lang="en-US" sz="2000" dirty="0">
                <a:solidFill>
                  <a:srgbClr val="1A1A1A"/>
                </a:solidFill>
                <a:latin typeface="Arial" pitchFamily="34" charset="0"/>
                <a:ea typeface="Arial" pitchFamily="34" charset="-122"/>
                <a:cs typeface="Arial" pitchFamily="34" charset="-120"/>
              </a:rPr>
              <a:t>Paste a token or pool address.</a:t>
            </a:r>
            <a:endParaRPr lang="en-US" sz="2000" dirty="0"/>
          </a:p>
        </p:txBody>
      </p:sp>
      <p:sp>
        <p:nvSpPr>
          <p:cNvPr id="8" name="Text 6"/>
          <p:cNvSpPr/>
          <p:nvPr/>
        </p:nvSpPr>
        <p:spPr>
          <a:xfrm>
            <a:off x="685800" y="4187952"/>
            <a:ext cx="347472" cy="457200"/>
          </a:xfrm>
          <a:prstGeom prst="rect">
            <a:avLst/>
          </a:prstGeom>
          <a:noFill/>
          <a:ln/>
        </p:spPr>
        <p:txBody>
          <a:bodyPr wrap="square" lIns="0" tIns="0" rIns="0" bIns="0" rtlCol="0" anchor="t"/>
          <a:lstStyle/>
          <a:p>
            <a:pPr indent="0" marL="0">
              <a:buNone/>
            </a:pPr>
            <a:r>
              <a:rPr lang="en-US" sz="1200" dirty="0">
                <a:solidFill>
                  <a:srgbClr val="65685E"/>
                </a:solidFill>
                <a:latin typeface="Courier New" pitchFamily="34" charset="0"/>
                <a:ea typeface="Courier New" pitchFamily="34" charset="-122"/>
                <a:cs typeface="Courier New" pitchFamily="34" charset="-120"/>
              </a:rPr>
              <a:t>02</a:t>
            </a:r>
            <a:endParaRPr lang="en-US" sz="1200" dirty="0"/>
          </a:p>
        </p:txBody>
      </p:sp>
      <p:sp>
        <p:nvSpPr>
          <p:cNvPr id="9" name="Text 7"/>
          <p:cNvSpPr/>
          <p:nvPr/>
        </p:nvSpPr>
        <p:spPr>
          <a:xfrm>
            <a:off x="1115568" y="4142232"/>
            <a:ext cx="3246120" cy="621792"/>
          </a:xfrm>
          <a:prstGeom prst="rect">
            <a:avLst/>
          </a:prstGeom>
          <a:noFill/>
          <a:ln/>
        </p:spPr>
        <p:txBody>
          <a:bodyPr wrap="square" lIns="0" tIns="0" rIns="0" bIns="0" rtlCol="0" anchor="t"/>
          <a:lstStyle/>
          <a:p>
            <a:pPr indent="0" marL="0">
              <a:buNone/>
            </a:pPr>
            <a:r>
              <a:rPr lang="en-US" sz="2000" dirty="0">
                <a:solidFill>
                  <a:srgbClr val="1A1A1A"/>
                </a:solidFill>
                <a:latin typeface="Arial" pitchFamily="34" charset="0"/>
                <a:ea typeface="Arial" pitchFamily="34" charset="-122"/>
                <a:cs typeface="Arial" pitchFamily="34" charset="-120"/>
              </a:rPr>
              <a:t>Get eight clear checks in one report.</a:t>
            </a:r>
            <a:endParaRPr lang="en-US" sz="2000" dirty="0"/>
          </a:p>
        </p:txBody>
      </p:sp>
      <p:sp>
        <p:nvSpPr>
          <p:cNvPr id="10" name="Text 8"/>
          <p:cNvSpPr/>
          <p:nvPr/>
        </p:nvSpPr>
        <p:spPr>
          <a:xfrm>
            <a:off x="685800" y="4901184"/>
            <a:ext cx="347472" cy="457200"/>
          </a:xfrm>
          <a:prstGeom prst="rect">
            <a:avLst/>
          </a:prstGeom>
          <a:noFill/>
          <a:ln/>
        </p:spPr>
        <p:txBody>
          <a:bodyPr wrap="square" lIns="0" tIns="0" rIns="0" bIns="0" rtlCol="0" anchor="t"/>
          <a:lstStyle/>
          <a:p>
            <a:pPr indent="0" marL="0">
              <a:buNone/>
            </a:pPr>
            <a:r>
              <a:rPr lang="en-US" sz="1200" dirty="0">
                <a:solidFill>
                  <a:srgbClr val="65685E"/>
                </a:solidFill>
                <a:latin typeface="Courier New" pitchFamily="34" charset="0"/>
                <a:ea typeface="Courier New" pitchFamily="34" charset="-122"/>
                <a:cs typeface="Courier New" pitchFamily="34" charset="-120"/>
              </a:rPr>
              <a:t>03</a:t>
            </a:r>
            <a:endParaRPr lang="en-US" sz="1200" dirty="0"/>
          </a:p>
        </p:txBody>
      </p:sp>
      <p:sp>
        <p:nvSpPr>
          <p:cNvPr id="11" name="Text 9"/>
          <p:cNvSpPr/>
          <p:nvPr/>
        </p:nvSpPr>
        <p:spPr>
          <a:xfrm>
            <a:off x="1115568" y="4855464"/>
            <a:ext cx="3246120" cy="621792"/>
          </a:xfrm>
          <a:prstGeom prst="rect">
            <a:avLst/>
          </a:prstGeom>
          <a:noFill/>
          <a:ln/>
        </p:spPr>
        <p:txBody>
          <a:bodyPr wrap="square" lIns="0" tIns="0" rIns="0" bIns="0" rtlCol="0" anchor="t"/>
          <a:lstStyle/>
          <a:p>
            <a:pPr indent="0" marL="0">
              <a:buNone/>
            </a:pPr>
            <a:r>
              <a:rPr lang="en-US" sz="2000" dirty="0">
                <a:solidFill>
                  <a:srgbClr val="1A1A1A"/>
                </a:solidFill>
                <a:latin typeface="Arial" pitchFamily="34" charset="0"/>
                <a:ea typeface="Arial" pitchFamily="34" charset="-122"/>
                <a:cs typeface="Arial" pitchFamily="34" charset="-120"/>
              </a:rPr>
              <a:t>Explore the findings that matter to you.</a:t>
            </a:r>
            <a:endParaRPr lang="en-US" sz="2000" dirty="0"/>
          </a:p>
        </p:txBody>
      </p:sp>
      <p:sp>
        <p:nvSpPr>
          <p:cNvPr id="12" name="Shape 10"/>
          <p:cNvSpPr/>
          <p:nvPr/>
        </p:nvSpPr>
        <p:spPr>
          <a:xfrm>
            <a:off x="4846320" y="1280160"/>
            <a:ext cx="6656832" cy="4681728"/>
          </a:xfrm>
          <a:prstGeom prst="rect">
            <a:avLst/>
          </a:prstGeom>
          <a:solidFill>
            <a:srgbClr val="EEEFE5"/>
          </a:solidFill>
          <a:ln w="12700">
            <a:solidFill>
              <a:srgbClr val="EEEFE5">
                <a:alpha val="0"/>
              </a:srgbClr>
            </a:solidFill>
            <a:prstDash val="solid"/>
          </a:ln>
        </p:spPr>
      </p:sp>
      <p:pic>
        <p:nvPicPr>
          <p:cNvPr id="13" name="Image 0" descr="C:\Users\User\Documents\work\Claude\dbc-guard\output\presentation\product-report-crop.png">    </p:cNvPr>
          <p:cNvPicPr>
            <a:picLocks noChangeAspect="1"/>
          </p:cNvPicPr>
          <p:nvPr/>
        </p:nvPicPr>
        <p:blipFill>
          <a:blip r:embed="rId1"/>
          <a:stretch>
            <a:fillRect/>
          </a:stretch>
        </p:blipFill>
        <p:spPr>
          <a:xfrm>
            <a:off x="4965192" y="1399032"/>
            <a:ext cx="6419088" cy="45902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04 / THE VALUE</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04 / 09</a:t>
            </a:r>
            <a:endParaRPr lang="en-US" sz="900" dirty="0"/>
          </a:p>
        </p:txBody>
      </p:sp>
      <p:sp>
        <p:nvSpPr>
          <p:cNvPr id="5" name="Text 3"/>
          <p:cNvSpPr/>
          <p:nvPr/>
        </p:nvSpPr>
        <p:spPr>
          <a:xfrm>
            <a:off x="685800" y="1005840"/>
            <a:ext cx="10835640" cy="868680"/>
          </a:xfrm>
          <a:prstGeom prst="rect">
            <a:avLst/>
          </a:prstGeom>
          <a:noFill/>
          <a:ln/>
        </p:spPr>
        <p:txBody>
          <a:bodyPr wrap="square" lIns="0" tIns="0" rIns="0" bIns="0" rtlCol="0" anchor="t"/>
          <a:lstStyle/>
          <a:p>
            <a:pPr indent="0" marL="0">
              <a:lnSpc>
                <a:spcPct val="100000"/>
              </a:lnSpc>
              <a:buNone/>
            </a:pPr>
            <a:r>
              <a:rPr lang="en-US" sz="3900" b="1" spc="-70" kern="0" dirty="0">
                <a:solidFill>
                  <a:srgbClr val="1A1A1A"/>
                </a:solidFill>
                <a:latin typeface="Arial" pitchFamily="34" charset="0"/>
                <a:ea typeface="Arial" pitchFamily="34" charset="-122"/>
                <a:cs typeface="Arial" pitchFamily="34" charset="-120"/>
              </a:rPr>
              <a:t>Understand what shapes the launch.</a:t>
            </a:r>
            <a:endParaRPr lang="en-US" sz="3900" dirty="0"/>
          </a:p>
        </p:txBody>
      </p:sp>
      <p:sp>
        <p:nvSpPr>
          <p:cNvPr id="6" name="Text 4"/>
          <p:cNvSpPr/>
          <p:nvPr/>
        </p:nvSpPr>
        <p:spPr>
          <a:xfrm>
            <a:off x="685800" y="2057400"/>
            <a:ext cx="10698480" cy="594360"/>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The important choices, brought together in a readable review.</a:t>
            </a:r>
            <a:endParaRPr lang="en-US" sz="2300" dirty="0"/>
          </a:p>
        </p:txBody>
      </p:sp>
      <p:sp>
        <p:nvSpPr>
          <p:cNvPr id="7" name="Text 5"/>
          <p:cNvSpPr/>
          <p:nvPr/>
        </p:nvSpPr>
        <p:spPr>
          <a:xfrm>
            <a:off x="685800" y="2999232"/>
            <a:ext cx="411480" cy="256032"/>
          </a:xfrm>
          <a:prstGeom prst="rect">
            <a:avLst/>
          </a:prstGeom>
          <a:noFill/>
          <a:ln/>
        </p:spPr>
        <p:txBody>
          <a:bodyPr wrap="square" lIns="0" tIns="0" rIns="0" bIns="0" rtlCol="0" anchor="ctr"/>
          <a:lstStyle/>
          <a:p>
            <a:pPr indent="0" marL="0">
              <a:buNone/>
            </a:pPr>
            <a:r>
              <a:rPr lang="en-US" sz="1200" dirty="0">
                <a:solidFill>
                  <a:srgbClr val="65685E"/>
                </a:solidFill>
                <a:latin typeface="Courier New" pitchFamily="34" charset="0"/>
                <a:ea typeface="Courier New" pitchFamily="34" charset="-122"/>
                <a:cs typeface="Courier New" pitchFamily="34" charset="-120"/>
              </a:rPr>
              <a:t>01</a:t>
            </a:r>
            <a:endParaRPr lang="en-US" sz="1200" dirty="0"/>
          </a:p>
        </p:txBody>
      </p:sp>
      <p:sp>
        <p:nvSpPr>
          <p:cNvPr id="8" name="Text 6"/>
          <p:cNvSpPr/>
          <p:nvPr/>
        </p:nvSpPr>
        <p:spPr>
          <a:xfrm>
            <a:off x="1252728" y="2944368"/>
            <a:ext cx="4389120" cy="347472"/>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Token controls</a:t>
            </a:r>
            <a:endParaRPr lang="en-US" sz="2300" dirty="0"/>
          </a:p>
        </p:txBody>
      </p:sp>
      <p:sp>
        <p:nvSpPr>
          <p:cNvPr id="9" name="Text 7"/>
          <p:cNvSpPr/>
          <p:nvPr/>
        </p:nvSpPr>
        <p:spPr>
          <a:xfrm>
            <a:off x="1252728" y="3355848"/>
            <a:ext cx="4389120" cy="594360"/>
          </a:xfrm>
          <a:prstGeom prst="rect">
            <a:avLst/>
          </a:prstGeom>
          <a:noFill/>
          <a:ln/>
        </p:spPr>
        <p:txBody>
          <a:bodyPr wrap="square" lIns="0" tIns="0" rIns="0" bIns="0" rtlCol="0" anchor="t"/>
          <a:lstStyle/>
          <a:p>
            <a:pPr indent="0" marL="0">
              <a:buNone/>
            </a:pPr>
            <a:r>
              <a:rPr lang="en-US" sz="1800" dirty="0">
                <a:solidFill>
                  <a:srgbClr val="65685E"/>
                </a:solidFill>
                <a:latin typeface="Arial" pitchFamily="34" charset="0"/>
                <a:ea typeface="Arial" pitchFamily="34" charset="-122"/>
                <a:cs typeface="Arial" pitchFamily="34" charset="-120"/>
              </a:rPr>
              <a:t>Understand who can change the token.</a:t>
            </a:r>
            <a:endParaRPr lang="en-US" sz="1800" dirty="0"/>
          </a:p>
        </p:txBody>
      </p:sp>
      <p:sp>
        <p:nvSpPr>
          <p:cNvPr id="10" name="Text 8"/>
          <p:cNvSpPr/>
          <p:nvPr/>
        </p:nvSpPr>
        <p:spPr>
          <a:xfrm>
            <a:off x="685800" y="3959352"/>
            <a:ext cx="411480" cy="256032"/>
          </a:xfrm>
          <a:prstGeom prst="rect">
            <a:avLst/>
          </a:prstGeom>
          <a:noFill/>
          <a:ln/>
        </p:spPr>
        <p:txBody>
          <a:bodyPr wrap="square" lIns="0" tIns="0" rIns="0" bIns="0" rtlCol="0" anchor="ctr"/>
          <a:lstStyle/>
          <a:p>
            <a:pPr indent="0" marL="0">
              <a:buNone/>
            </a:pPr>
            <a:r>
              <a:rPr lang="en-US" sz="1200" dirty="0">
                <a:solidFill>
                  <a:srgbClr val="65685E"/>
                </a:solidFill>
                <a:latin typeface="Courier New" pitchFamily="34" charset="0"/>
                <a:ea typeface="Courier New" pitchFamily="34" charset="-122"/>
                <a:cs typeface="Courier New" pitchFamily="34" charset="-120"/>
              </a:rPr>
              <a:t>02</a:t>
            </a:r>
            <a:endParaRPr lang="en-US" sz="1200" dirty="0"/>
          </a:p>
        </p:txBody>
      </p:sp>
      <p:sp>
        <p:nvSpPr>
          <p:cNvPr id="11" name="Text 9"/>
          <p:cNvSpPr/>
          <p:nvPr/>
        </p:nvSpPr>
        <p:spPr>
          <a:xfrm>
            <a:off x="1252728" y="3904488"/>
            <a:ext cx="4389120" cy="347472"/>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Trading fees</a:t>
            </a:r>
            <a:endParaRPr lang="en-US" sz="2300" dirty="0"/>
          </a:p>
        </p:txBody>
      </p:sp>
      <p:sp>
        <p:nvSpPr>
          <p:cNvPr id="12" name="Text 10"/>
          <p:cNvSpPr/>
          <p:nvPr/>
        </p:nvSpPr>
        <p:spPr>
          <a:xfrm>
            <a:off x="1252728" y="4315968"/>
            <a:ext cx="4389120" cy="594360"/>
          </a:xfrm>
          <a:prstGeom prst="rect">
            <a:avLst/>
          </a:prstGeom>
          <a:noFill/>
          <a:ln/>
        </p:spPr>
        <p:txBody>
          <a:bodyPr wrap="square" lIns="0" tIns="0" rIns="0" bIns="0" rtlCol="0" anchor="t"/>
          <a:lstStyle/>
          <a:p>
            <a:pPr indent="0" marL="0">
              <a:buNone/>
            </a:pPr>
            <a:r>
              <a:rPr lang="en-US" sz="1800" dirty="0">
                <a:solidFill>
                  <a:srgbClr val="65685E"/>
                </a:solidFill>
                <a:latin typeface="Arial" pitchFamily="34" charset="0"/>
                <a:ea typeface="Arial" pitchFamily="34" charset="-122"/>
                <a:cs typeface="Arial" pitchFamily="34" charset="-120"/>
              </a:rPr>
              <a:t>See the costs set for the launch.</a:t>
            </a:r>
            <a:endParaRPr lang="en-US" sz="1800" dirty="0"/>
          </a:p>
        </p:txBody>
      </p:sp>
      <p:sp>
        <p:nvSpPr>
          <p:cNvPr id="13" name="Text 11"/>
          <p:cNvSpPr/>
          <p:nvPr/>
        </p:nvSpPr>
        <p:spPr>
          <a:xfrm>
            <a:off x="685800" y="4919472"/>
            <a:ext cx="411480" cy="256032"/>
          </a:xfrm>
          <a:prstGeom prst="rect">
            <a:avLst/>
          </a:prstGeom>
          <a:noFill/>
          <a:ln/>
        </p:spPr>
        <p:txBody>
          <a:bodyPr wrap="square" lIns="0" tIns="0" rIns="0" bIns="0" rtlCol="0" anchor="ctr"/>
          <a:lstStyle/>
          <a:p>
            <a:pPr indent="0" marL="0">
              <a:buNone/>
            </a:pPr>
            <a:r>
              <a:rPr lang="en-US" sz="1200" dirty="0">
                <a:solidFill>
                  <a:srgbClr val="65685E"/>
                </a:solidFill>
                <a:latin typeface="Courier New" pitchFamily="34" charset="0"/>
                <a:ea typeface="Courier New" pitchFamily="34" charset="-122"/>
                <a:cs typeface="Courier New" pitchFamily="34" charset="-120"/>
              </a:rPr>
              <a:t>03</a:t>
            </a:r>
            <a:endParaRPr lang="en-US" sz="1200" dirty="0"/>
          </a:p>
        </p:txBody>
      </p:sp>
      <p:sp>
        <p:nvSpPr>
          <p:cNvPr id="14" name="Text 12"/>
          <p:cNvSpPr/>
          <p:nvPr/>
        </p:nvSpPr>
        <p:spPr>
          <a:xfrm>
            <a:off x="1252728" y="4864608"/>
            <a:ext cx="4389120" cy="347472"/>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Creator allocations</a:t>
            </a:r>
            <a:endParaRPr lang="en-US" sz="2300" dirty="0"/>
          </a:p>
        </p:txBody>
      </p:sp>
      <p:sp>
        <p:nvSpPr>
          <p:cNvPr id="15" name="Text 13"/>
          <p:cNvSpPr/>
          <p:nvPr/>
        </p:nvSpPr>
        <p:spPr>
          <a:xfrm>
            <a:off x="1252728" y="5276088"/>
            <a:ext cx="4389120" cy="594360"/>
          </a:xfrm>
          <a:prstGeom prst="rect">
            <a:avLst/>
          </a:prstGeom>
          <a:noFill/>
          <a:ln/>
        </p:spPr>
        <p:txBody>
          <a:bodyPr wrap="square" lIns="0" tIns="0" rIns="0" bIns="0" rtlCol="0" anchor="t"/>
          <a:lstStyle/>
          <a:p>
            <a:pPr indent="0" marL="0">
              <a:buNone/>
            </a:pPr>
            <a:r>
              <a:rPr lang="en-US" sz="1800" dirty="0">
                <a:solidFill>
                  <a:srgbClr val="65685E"/>
                </a:solidFill>
                <a:latin typeface="Arial" pitchFamily="34" charset="0"/>
                <a:ea typeface="Arial" pitchFamily="34" charset="-122"/>
                <a:cs typeface="Arial" pitchFamily="34" charset="-120"/>
              </a:rPr>
              <a:t>Explore the creator’s share and release schedule.</a:t>
            </a:r>
            <a:endParaRPr lang="en-US" sz="1800" dirty="0"/>
          </a:p>
        </p:txBody>
      </p:sp>
      <p:sp>
        <p:nvSpPr>
          <p:cNvPr id="16" name="Text 14"/>
          <p:cNvSpPr/>
          <p:nvPr/>
        </p:nvSpPr>
        <p:spPr>
          <a:xfrm>
            <a:off x="6400800" y="2999232"/>
            <a:ext cx="411480" cy="256032"/>
          </a:xfrm>
          <a:prstGeom prst="rect">
            <a:avLst/>
          </a:prstGeom>
          <a:noFill/>
          <a:ln/>
        </p:spPr>
        <p:txBody>
          <a:bodyPr wrap="square" lIns="0" tIns="0" rIns="0" bIns="0" rtlCol="0" anchor="ctr"/>
          <a:lstStyle/>
          <a:p>
            <a:pPr indent="0" marL="0">
              <a:buNone/>
            </a:pPr>
            <a:r>
              <a:rPr lang="en-US" sz="1200" dirty="0">
                <a:solidFill>
                  <a:srgbClr val="65685E"/>
                </a:solidFill>
                <a:latin typeface="Courier New" pitchFamily="34" charset="0"/>
                <a:ea typeface="Courier New" pitchFamily="34" charset="-122"/>
                <a:cs typeface="Courier New" pitchFamily="34" charset="-120"/>
              </a:rPr>
              <a:t>04</a:t>
            </a:r>
            <a:endParaRPr lang="en-US" sz="1200" dirty="0"/>
          </a:p>
        </p:txBody>
      </p:sp>
      <p:sp>
        <p:nvSpPr>
          <p:cNvPr id="17" name="Text 15"/>
          <p:cNvSpPr/>
          <p:nvPr/>
        </p:nvSpPr>
        <p:spPr>
          <a:xfrm>
            <a:off x="6967728" y="2944368"/>
            <a:ext cx="4389120" cy="347472"/>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Liquidity commitments</a:t>
            </a:r>
            <a:endParaRPr lang="en-US" sz="2300" dirty="0"/>
          </a:p>
        </p:txBody>
      </p:sp>
      <p:sp>
        <p:nvSpPr>
          <p:cNvPr id="18" name="Text 16"/>
          <p:cNvSpPr/>
          <p:nvPr/>
        </p:nvSpPr>
        <p:spPr>
          <a:xfrm>
            <a:off x="6967728" y="3355848"/>
            <a:ext cx="4389120" cy="594360"/>
          </a:xfrm>
          <a:prstGeom prst="rect">
            <a:avLst/>
          </a:prstGeom>
          <a:noFill/>
          <a:ln/>
        </p:spPr>
        <p:txBody>
          <a:bodyPr wrap="square" lIns="0" tIns="0" rIns="0" bIns="0" rtlCol="0" anchor="t"/>
          <a:lstStyle/>
          <a:p>
            <a:pPr indent="0" marL="0">
              <a:buNone/>
            </a:pPr>
            <a:r>
              <a:rPr lang="en-US" sz="1800" dirty="0">
                <a:solidFill>
                  <a:srgbClr val="65685E"/>
                </a:solidFill>
                <a:latin typeface="Arial" pitchFamily="34" charset="0"/>
                <a:ea typeface="Arial" pitchFamily="34" charset="-122"/>
                <a:cs typeface="Arial" pitchFamily="34" charset="-120"/>
              </a:rPr>
              <a:t>Review the launch’s liquidity allocations.</a:t>
            </a:r>
            <a:endParaRPr lang="en-US" sz="1800" dirty="0"/>
          </a:p>
        </p:txBody>
      </p:sp>
      <p:sp>
        <p:nvSpPr>
          <p:cNvPr id="19" name="Text 17"/>
          <p:cNvSpPr/>
          <p:nvPr/>
        </p:nvSpPr>
        <p:spPr>
          <a:xfrm>
            <a:off x="6400800" y="4389120"/>
            <a:ext cx="411480" cy="256032"/>
          </a:xfrm>
          <a:prstGeom prst="rect">
            <a:avLst/>
          </a:prstGeom>
          <a:noFill/>
          <a:ln/>
        </p:spPr>
        <p:txBody>
          <a:bodyPr wrap="square" lIns="0" tIns="0" rIns="0" bIns="0" rtlCol="0" anchor="ctr"/>
          <a:lstStyle/>
          <a:p>
            <a:pPr indent="0" marL="0">
              <a:buNone/>
            </a:pPr>
            <a:r>
              <a:rPr lang="en-US" sz="1200" dirty="0">
                <a:solidFill>
                  <a:srgbClr val="65685E"/>
                </a:solidFill>
                <a:latin typeface="Courier New" pitchFamily="34" charset="0"/>
                <a:ea typeface="Courier New" pitchFamily="34" charset="-122"/>
                <a:cs typeface="Courier New" pitchFamily="34" charset="-120"/>
              </a:rPr>
              <a:t>05</a:t>
            </a:r>
            <a:endParaRPr lang="en-US" sz="1200" dirty="0"/>
          </a:p>
        </p:txBody>
      </p:sp>
      <p:sp>
        <p:nvSpPr>
          <p:cNvPr id="20" name="Text 18"/>
          <p:cNvSpPr/>
          <p:nvPr/>
        </p:nvSpPr>
        <p:spPr>
          <a:xfrm>
            <a:off x="6967728" y="4334256"/>
            <a:ext cx="4389120" cy="347472"/>
          </a:xfrm>
          <a:prstGeom prst="rect">
            <a:avLst/>
          </a:prstGeom>
          <a:noFill/>
          <a:ln/>
        </p:spPr>
        <p:txBody>
          <a:bodyPr wrap="square" lIns="0" tIns="0" rIns="0" bIns="0" rtlCol="0" anchor="ctr"/>
          <a:lstStyle/>
          <a:p>
            <a:pPr indent="0" marL="0">
              <a:buNone/>
            </a:pPr>
            <a:r>
              <a:rPr lang="en-US" sz="2300" b="1" dirty="0">
                <a:solidFill>
                  <a:srgbClr val="1A1A1A"/>
                </a:solidFill>
                <a:latin typeface="Arial" pitchFamily="34" charset="0"/>
                <a:ea typeface="Arial" pitchFamily="34" charset="-122"/>
                <a:cs typeface="Arial" pitchFamily="34" charset="-120"/>
              </a:rPr>
              <a:t>Launch progress</a:t>
            </a:r>
            <a:endParaRPr lang="en-US" sz="2300" dirty="0"/>
          </a:p>
        </p:txBody>
      </p:sp>
      <p:sp>
        <p:nvSpPr>
          <p:cNvPr id="21" name="Text 19"/>
          <p:cNvSpPr/>
          <p:nvPr/>
        </p:nvSpPr>
        <p:spPr>
          <a:xfrm>
            <a:off x="6967728" y="4745736"/>
            <a:ext cx="4389120" cy="594360"/>
          </a:xfrm>
          <a:prstGeom prst="rect">
            <a:avLst/>
          </a:prstGeom>
          <a:noFill/>
          <a:ln/>
        </p:spPr>
        <p:txBody>
          <a:bodyPr wrap="square" lIns="0" tIns="0" rIns="0" bIns="0" rtlCol="0" anchor="t"/>
          <a:lstStyle/>
          <a:p>
            <a:pPr indent="0" marL="0">
              <a:buNone/>
            </a:pPr>
            <a:r>
              <a:rPr lang="en-US" sz="1800" dirty="0">
                <a:solidFill>
                  <a:srgbClr val="65685E"/>
                </a:solidFill>
                <a:latin typeface="Arial" pitchFamily="34" charset="0"/>
                <a:ea typeface="Arial" pitchFamily="34" charset="-122"/>
                <a:cs typeface="Arial" pitchFamily="34" charset="-120"/>
              </a:rPr>
              <a:t>See where the launch stands and what comes next.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C4C8B9"/>
                </a:solidFill>
                <a:latin typeface="Courier New" pitchFamily="34" charset="0"/>
                <a:ea typeface="Courier New" pitchFamily="34" charset="-122"/>
                <a:cs typeface="Courier New" pitchFamily="34" charset="-120"/>
              </a:rPr>
              <a:t>05 / WHY METEORA</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C4C8B9"/>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C4C8B9"/>
                </a:solidFill>
                <a:latin typeface="Courier New" pitchFamily="34" charset="0"/>
                <a:ea typeface="Courier New" pitchFamily="34" charset="-122"/>
                <a:cs typeface="Courier New" pitchFamily="34" charset="-120"/>
              </a:rPr>
              <a:t>05 / 09</a:t>
            </a:r>
            <a:endParaRPr lang="en-US" sz="900" dirty="0"/>
          </a:p>
        </p:txBody>
      </p:sp>
      <p:sp>
        <p:nvSpPr>
          <p:cNvPr id="5" name="Text 3"/>
          <p:cNvSpPr/>
          <p:nvPr/>
        </p:nvSpPr>
        <p:spPr>
          <a:xfrm>
            <a:off x="685800" y="1463040"/>
            <a:ext cx="6583680" cy="2743200"/>
          </a:xfrm>
          <a:prstGeom prst="rect">
            <a:avLst/>
          </a:prstGeom>
          <a:noFill/>
          <a:ln/>
        </p:spPr>
        <p:txBody>
          <a:bodyPr wrap="square" lIns="0" tIns="0" rIns="0" bIns="0" rtlCol="0" anchor="t"/>
          <a:lstStyle/>
          <a:p>
            <a:pPr indent="0" marL="0">
              <a:lnSpc>
                <a:spcPct val="100000"/>
              </a:lnSpc>
              <a:buNone/>
            </a:pPr>
            <a:r>
              <a:rPr lang="en-US" sz="4600" b="1" spc="-70" kern="0" dirty="0">
                <a:solidFill>
                  <a:srgbClr val="FAFAF3"/>
                </a:solidFill>
                <a:latin typeface="Arial" pitchFamily="34" charset="0"/>
                <a:ea typeface="Arial" pitchFamily="34" charset="-122"/>
                <a:cs typeface="Arial" pitchFamily="34" charset="-120"/>
              </a:rPr>
              <a:t>Flexible launches</a:t>
            </a:r>
            <a:endParaRPr lang="en-US" sz="4600" dirty="0"/>
          </a:p>
          <a:p>
            <a:pPr indent="0" marL="0">
              <a:lnSpc>
                <a:spcPct val="100000"/>
              </a:lnSpc>
              <a:buNone/>
            </a:pPr>
            <a:r>
              <a:rPr lang="en-US" sz="4600" b="1" spc="-70" kern="0" dirty="0">
                <a:solidFill>
                  <a:srgbClr val="FAFAF3"/>
                </a:solidFill>
                <a:latin typeface="Arial" pitchFamily="34" charset="0"/>
                <a:ea typeface="Arial" pitchFamily="34" charset="-122"/>
                <a:cs typeface="Arial" pitchFamily="34" charset="-120"/>
              </a:rPr>
              <a:t>deserve clear</a:t>
            </a:r>
            <a:endParaRPr lang="en-US" sz="4600" dirty="0"/>
          </a:p>
          <a:p>
            <a:pPr indent="0" marL="0">
              <a:lnSpc>
                <a:spcPct val="100000"/>
              </a:lnSpc>
              <a:buNone/>
            </a:pPr>
            <a:r>
              <a:rPr lang="en-US" sz="4600" b="1" spc="-70" kern="0" dirty="0">
                <a:solidFill>
                  <a:srgbClr val="FAFAF3"/>
                </a:solidFill>
                <a:latin typeface="Arial" pitchFamily="34" charset="0"/>
                <a:ea typeface="Arial" pitchFamily="34" charset="-122"/>
                <a:cs typeface="Arial" pitchFamily="34" charset="-120"/>
              </a:rPr>
              <a:t>explanations.</a:t>
            </a:r>
            <a:endParaRPr lang="en-US" sz="4600" dirty="0"/>
          </a:p>
        </p:txBody>
      </p:sp>
      <p:sp>
        <p:nvSpPr>
          <p:cNvPr id="6" name="Text 4"/>
          <p:cNvSpPr/>
          <p:nvPr/>
        </p:nvSpPr>
        <p:spPr>
          <a:xfrm>
            <a:off x="7726680" y="1874520"/>
            <a:ext cx="3767328" cy="1463040"/>
          </a:xfrm>
          <a:prstGeom prst="rect">
            <a:avLst/>
          </a:prstGeom>
          <a:noFill/>
          <a:ln/>
        </p:spPr>
        <p:txBody>
          <a:bodyPr wrap="square" lIns="0" tIns="0" rIns="0" bIns="0" rtlCol="0" anchor="t"/>
          <a:lstStyle/>
          <a:p>
            <a:pPr indent="0" marL="0">
              <a:buNone/>
            </a:pPr>
            <a:r>
              <a:rPr lang="en-US" sz="2500" dirty="0">
                <a:solidFill>
                  <a:srgbClr val="FAFAF3"/>
                </a:solidFill>
                <a:latin typeface="Arial" pitchFamily="34" charset="0"/>
                <a:ea typeface="Arial" pitchFamily="34" charset="-122"/>
                <a:cs typeface="Arial" pitchFamily="34" charset="-120"/>
              </a:rPr>
              <a:t>Meteora gives creators flexibility in how they launch tokens.</a:t>
            </a:r>
            <a:endParaRPr lang="en-US" sz="2500" dirty="0"/>
          </a:p>
        </p:txBody>
      </p:sp>
      <p:sp>
        <p:nvSpPr>
          <p:cNvPr id="7" name="Text 5"/>
          <p:cNvSpPr/>
          <p:nvPr/>
        </p:nvSpPr>
        <p:spPr>
          <a:xfrm>
            <a:off x="7726680" y="3703320"/>
            <a:ext cx="3767328" cy="1463040"/>
          </a:xfrm>
          <a:prstGeom prst="rect">
            <a:avLst/>
          </a:prstGeom>
          <a:noFill/>
          <a:ln/>
        </p:spPr>
        <p:txBody>
          <a:bodyPr wrap="square" lIns="0" tIns="0" rIns="0" bIns="0" rtlCol="0" anchor="t"/>
          <a:lstStyle/>
          <a:p>
            <a:pPr indent="0" marL="0">
              <a:buNone/>
            </a:pPr>
            <a:r>
              <a:rPr lang="en-US" sz="2500" dirty="0">
                <a:solidFill>
                  <a:srgbClr val="C4C8B9"/>
                </a:solidFill>
                <a:latin typeface="Arial" pitchFamily="34" charset="0"/>
                <a:ea typeface="Arial" pitchFamily="34" charset="-122"/>
                <a:cs typeface="Arial" pitchFamily="34" charset="-120"/>
              </a:rPr>
              <a:t>DBC Guard helps people understand those choices before participating.</a:t>
            </a:r>
            <a:endParaRPr lang="en-US" sz="2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06 / THE LANDSCAPE</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06 / 09</a:t>
            </a:r>
            <a:endParaRPr lang="en-US" sz="900" dirty="0"/>
          </a:p>
        </p:txBody>
      </p:sp>
      <p:sp>
        <p:nvSpPr>
          <p:cNvPr id="5" name="Text 3"/>
          <p:cNvSpPr/>
          <p:nvPr/>
        </p:nvSpPr>
        <p:spPr>
          <a:xfrm>
            <a:off x="685800" y="1078992"/>
            <a:ext cx="10835640" cy="822960"/>
          </a:xfrm>
          <a:prstGeom prst="rect">
            <a:avLst/>
          </a:prstGeom>
          <a:noFill/>
          <a:ln/>
        </p:spPr>
        <p:txBody>
          <a:bodyPr wrap="square" lIns="0" tIns="0" rIns="0" bIns="0" rtlCol="0" anchor="t"/>
          <a:lstStyle/>
          <a:p>
            <a:pPr indent="0" marL="0">
              <a:lnSpc>
                <a:spcPct val="100000"/>
              </a:lnSpc>
              <a:buNone/>
            </a:pPr>
            <a:r>
              <a:rPr lang="en-US" sz="4200" b="1" spc="-70" kern="0" dirty="0">
                <a:solidFill>
                  <a:srgbClr val="1A1A1A"/>
                </a:solidFill>
                <a:latin typeface="Arial" pitchFamily="34" charset="0"/>
                <a:ea typeface="Arial" pitchFamily="34" charset="-122"/>
                <a:cs typeface="Arial" pitchFamily="34" charset="-120"/>
              </a:rPr>
              <a:t>A focused view of the launch.</a:t>
            </a:r>
            <a:endParaRPr lang="en-US" sz="4200" dirty="0"/>
          </a:p>
        </p:txBody>
      </p:sp>
      <p:sp>
        <p:nvSpPr>
          <p:cNvPr id="6" name="Text 4"/>
          <p:cNvSpPr/>
          <p:nvPr/>
        </p:nvSpPr>
        <p:spPr>
          <a:xfrm>
            <a:off x="896112" y="2359152"/>
            <a:ext cx="2743200" cy="274320"/>
          </a:xfrm>
          <a:prstGeom prst="rect">
            <a:avLst/>
          </a:prstGeom>
          <a:noFill/>
          <a:ln/>
        </p:spPr>
        <p:txBody>
          <a:bodyPr wrap="square" lIns="0" tIns="0" rIns="0" bIns="0" rtlCol="0" anchor="ctr"/>
          <a:lstStyle/>
          <a:p>
            <a:pPr indent="0" marL="0">
              <a:buNone/>
            </a:pPr>
            <a:r>
              <a:rPr lang="en-US" sz="1100" dirty="0">
                <a:solidFill>
                  <a:srgbClr val="65685E"/>
                </a:solidFill>
                <a:latin typeface="Courier New" pitchFamily="34" charset="0"/>
                <a:ea typeface="Courier New" pitchFamily="34" charset="-122"/>
                <a:cs typeface="Courier New" pitchFamily="34" charset="-120"/>
              </a:rPr>
              <a:t>PRODUCT</a:t>
            </a:r>
            <a:endParaRPr lang="en-US" sz="1100" dirty="0"/>
          </a:p>
        </p:txBody>
      </p:sp>
      <p:sp>
        <p:nvSpPr>
          <p:cNvPr id="7" name="Text 5"/>
          <p:cNvSpPr/>
          <p:nvPr/>
        </p:nvSpPr>
        <p:spPr>
          <a:xfrm>
            <a:off x="4251960" y="2359152"/>
            <a:ext cx="6492240" cy="274320"/>
          </a:xfrm>
          <a:prstGeom prst="rect">
            <a:avLst/>
          </a:prstGeom>
          <a:noFill/>
          <a:ln/>
        </p:spPr>
        <p:txBody>
          <a:bodyPr wrap="square" lIns="0" tIns="0" rIns="0" bIns="0" rtlCol="0" anchor="ctr"/>
          <a:lstStyle/>
          <a:p>
            <a:pPr indent="0" marL="0">
              <a:buNone/>
            </a:pPr>
            <a:r>
              <a:rPr lang="en-US" sz="1100" dirty="0">
                <a:solidFill>
                  <a:srgbClr val="65685E"/>
                </a:solidFill>
                <a:latin typeface="Courier New" pitchFamily="34" charset="0"/>
                <a:ea typeface="Courier New" pitchFamily="34" charset="-122"/>
                <a:cs typeface="Courier New" pitchFamily="34" charset="-120"/>
              </a:rPr>
              <a:t>PRIMARY FOCUS</a:t>
            </a:r>
            <a:endParaRPr lang="en-US" sz="1100" dirty="0"/>
          </a:p>
        </p:txBody>
      </p:sp>
      <p:sp>
        <p:nvSpPr>
          <p:cNvPr id="8" name="Text 6"/>
          <p:cNvSpPr/>
          <p:nvPr/>
        </p:nvSpPr>
        <p:spPr>
          <a:xfrm>
            <a:off x="896112" y="2916936"/>
            <a:ext cx="3063240" cy="384048"/>
          </a:xfrm>
          <a:prstGeom prst="rect">
            <a:avLst/>
          </a:prstGeom>
          <a:noFill/>
          <a:ln/>
        </p:spPr>
        <p:txBody>
          <a:bodyPr wrap="square" lIns="0" tIns="0" rIns="0" bIns="0" rtlCol="0" anchor="ctr"/>
          <a:lstStyle/>
          <a:p>
            <a:pPr indent="0" marL="0">
              <a:buNone/>
            </a:pPr>
            <a:r>
              <a:rPr lang="en-US" sz="2200" dirty="0">
                <a:solidFill>
                  <a:srgbClr val="1A1A1A"/>
                </a:solidFill>
                <a:latin typeface="Arial" pitchFamily="34" charset="0"/>
                <a:ea typeface="Arial" pitchFamily="34" charset="-122"/>
                <a:cs typeface="Arial" pitchFamily="34" charset="-120"/>
              </a:rPr>
              <a:t>Rugcheck</a:t>
            </a:r>
            <a:endParaRPr lang="en-US" sz="2200" dirty="0"/>
          </a:p>
        </p:txBody>
      </p:sp>
      <p:sp>
        <p:nvSpPr>
          <p:cNvPr id="9" name="Text 7"/>
          <p:cNvSpPr/>
          <p:nvPr/>
        </p:nvSpPr>
        <p:spPr>
          <a:xfrm>
            <a:off x="4251960" y="2916936"/>
            <a:ext cx="6903720" cy="384048"/>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Token risk</a:t>
            </a:r>
            <a:endParaRPr lang="en-US" sz="2100" dirty="0"/>
          </a:p>
        </p:txBody>
      </p:sp>
      <p:sp>
        <p:nvSpPr>
          <p:cNvPr id="10" name="Shape 8"/>
          <p:cNvSpPr/>
          <p:nvPr/>
        </p:nvSpPr>
        <p:spPr>
          <a:xfrm>
            <a:off x="685800" y="3474720"/>
            <a:ext cx="10817352" cy="685800"/>
          </a:xfrm>
          <a:prstGeom prst="rect">
            <a:avLst/>
          </a:prstGeom>
          <a:solidFill>
            <a:srgbClr val="EEEFE5"/>
          </a:solidFill>
          <a:ln w="12700">
            <a:solidFill>
              <a:srgbClr val="EEEFE5">
                <a:alpha val="0"/>
              </a:srgbClr>
            </a:solidFill>
            <a:prstDash val="solid"/>
          </a:ln>
        </p:spPr>
      </p:sp>
      <p:sp>
        <p:nvSpPr>
          <p:cNvPr id="11" name="Text 9"/>
          <p:cNvSpPr/>
          <p:nvPr/>
        </p:nvSpPr>
        <p:spPr>
          <a:xfrm>
            <a:off x="896112" y="3602736"/>
            <a:ext cx="3063240" cy="384048"/>
          </a:xfrm>
          <a:prstGeom prst="rect">
            <a:avLst/>
          </a:prstGeom>
          <a:noFill/>
          <a:ln/>
        </p:spPr>
        <p:txBody>
          <a:bodyPr wrap="square" lIns="0" tIns="0" rIns="0" bIns="0" rtlCol="0" anchor="ctr"/>
          <a:lstStyle/>
          <a:p>
            <a:pPr indent="0" marL="0">
              <a:buNone/>
            </a:pPr>
            <a:r>
              <a:rPr lang="en-US" sz="2200" dirty="0">
                <a:solidFill>
                  <a:srgbClr val="1A1A1A"/>
                </a:solidFill>
                <a:latin typeface="Arial" pitchFamily="34" charset="0"/>
                <a:ea typeface="Arial" pitchFamily="34" charset="-122"/>
                <a:cs typeface="Arial" pitchFamily="34" charset="-120"/>
              </a:rPr>
              <a:t>DEX Screener</a:t>
            </a:r>
            <a:endParaRPr lang="en-US" sz="2200" dirty="0"/>
          </a:p>
        </p:txBody>
      </p:sp>
      <p:sp>
        <p:nvSpPr>
          <p:cNvPr id="12" name="Text 10"/>
          <p:cNvSpPr/>
          <p:nvPr/>
        </p:nvSpPr>
        <p:spPr>
          <a:xfrm>
            <a:off x="4251960" y="3602736"/>
            <a:ext cx="6903720" cy="384048"/>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Market activity and charts</a:t>
            </a:r>
            <a:endParaRPr lang="en-US" sz="2100" dirty="0"/>
          </a:p>
        </p:txBody>
      </p:sp>
      <p:sp>
        <p:nvSpPr>
          <p:cNvPr id="13" name="Text 11"/>
          <p:cNvSpPr/>
          <p:nvPr/>
        </p:nvSpPr>
        <p:spPr>
          <a:xfrm>
            <a:off x="896112" y="4288536"/>
            <a:ext cx="3063240" cy="384048"/>
          </a:xfrm>
          <a:prstGeom prst="rect">
            <a:avLst/>
          </a:prstGeom>
          <a:noFill/>
          <a:ln/>
        </p:spPr>
        <p:txBody>
          <a:bodyPr wrap="square" lIns="0" tIns="0" rIns="0" bIns="0" rtlCol="0" anchor="ctr"/>
          <a:lstStyle/>
          <a:p>
            <a:pPr indent="0" marL="0">
              <a:buNone/>
            </a:pPr>
            <a:r>
              <a:rPr lang="en-US" sz="2200" dirty="0">
                <a:solidFill>
                  <a:srgbClr val="1A1A1A"/>
                </a:solidFill>
                <a:latin typeface="Arial" pitchFamily="34" charset="0"/>
                <a:ea typeface="Arial" pitchFamily="34" charset="-122"/>
                <a:cs typeface="Arial" pitchFamily="34" charset="-120"/>
              </a:rPr>
              <a:t>Solscan</a:t>
            </a:r>
            <a:endParaRPr lang="en-US" sz="2200" dirty="0"/>
          </a:p>
        </p:txBody>
      </p:sp>
      <p:sp>
        <p:nvSpPr>
          <p:cNvPr id="14" name="Text 12"/>
          <p:cNvSpPr/>
          <p:nvPr/>
        </p:nvSpPr>
        <p:spPr>
          <a:xfrm>
            <a:off x="4251960" y="4288536"/>
            <a:ext cx="6903720" cy="384048"/>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Blockchain records</a:t>
            </a:r>
            <a:endParaRPr lang="en-US" sz="2100" dirty="0"/>
          </a:p>
        </p:txBody>
      </p:sp>
      <p:sp>
        <p:nvSpPr>
          <p:cNvPr id="15" name="Shape 13"/>
          <p:cNvSpPr/>
          <p:nvPr/>
        </p:nvSpPr>
        <p:spPr>
          <a:xfrm>
            <a:off x="685800" y="4846320"/>
            <a:ext cx="10817352" cy="685800"/>
          </a:xfrm>
          <a:prstGeom prst="rect">
            <a:avLst/>
          </a:prstGeom>
          <a:solidFill>
            <a:srgbClr val="1A1A1A"/>
          </a:solidFill>
          <a:ln w="12700">
            <a:solidFill>
              <a:srgbClr val="1A1A1A">
                <a:alpha val="0"/>
              </a:srgbClr>
            </a:solidFill>
            <a:prstDash val="solid"/>
          </a:ln>
        </p:spPr>
      </p:sp>
      <p:sp>
        <p:nvSpPr>
          <p:cNvPr id="16" name="Text 14"/>
          <p:cNvSpPr/>
          <p:nvPr/>
        </p:nvSpPr>
        <p:spPr>
          <a:xfrm>
            <a:off x="896112" y="4974336"/>
            <a:ext cx="3063240" cy="384048"/>
          </a:xfrm>
          <a:prstGeom prst="rect">
            <a:avLst/>
          </a:prstGeom>
          <a:noFill/>
          <a:ln/>
        </p:spPr>
        <p:txBody>
          <a:bodyPr wrap="square" lIns="0" tIns="0" rIns="0" bIns="0" rtlCol="0" anchor="ctr"/>
          <a:lstStyle/>
          <a:p>
            <a:pPr indent="0" marL="0">
              <a:buNone/>
            </a:pPr>
            <a:r>
              <a:rPr lang="en-US" sz="2200" b="1" dirty="0">
                <a:solidFill>
                  <a:srgbClr val="FAFAF3"/>
                </a:solidFill>
                <a:latin typeface="Arial" pitchFamily="34" charset="0"/>
                <a:ea typeface="Arial" pitchFamily="34" charset="-122"/>
                <a:cs typeface="Arial" pitchFamily="34" charset="-120"/>
              </a:rPr>
              <a:t>DBC Guard</a:t>
            </a:r>
            <a:endParaRPr lang="en-US" sz="2200" dirty="0"/>
          </a:p>
        </p:txBody>
      </p:sp>
      <p:sp>
        <p:nvSpPr>
          <p:cNvPr id="17" name="Text 15"/>
          <p:cNvSpPr/>
          <p:nvPr/>
        </p:nvSpPr>
        <p:spPr>
          <a:xfrm>
            <a:off x="4251960" y="4974336"/>
            <a:ext cx="6903720" cy="384048"/>
          </a:xfrm>
          <a:prstGeom prst="rect">
            <a:avLst/>
          </a:prstGeom>
          <a:noFill/>
          <a:ln/>
        </p:spPr>
        <p:txBody>
          <a:bodyPr wrap="square" lIns="0" tIns="0" rIns="0" bIns="0" rtlCol="0" anchor="ctr"/>
          <a:lstStyle/>
          <a:p>
            <a:pPr indent="0" marL="0">
              <a:buNone/>
            </a:pPr>
            <a:r>
              <a:rPr lang="en-US" sz="2100" dirty="0">
                <a:solidFill>
                  <a:srgbClr val="FAFAF3"/>
                </a:solidFill>
                <a:latin typeface="Arial" pitchFamily="34" charset="0"/>
                <a:ea typeface="Arial" pitchFamily="34" charset="-122"/>
                <a:cs typeface="Arial" pitchFamily="34" charset="-120"/>
              </a:rPr>
              <a:t>Meteora launch settings and their implications</a:t>
            </a:r>
            <a:endParaRPr lang="en-US" sz="2100" dirty="0"/>
          </a:p>
        </p:txBody>
      </p:sp>
      <p:sp>
        <p:nvSpPr>
          <p:cNvPr id="18" name="Text 16"/>
          <p:cNvSpPr/>
          <p:nvPr/>
        </p:nvSpPr>
        <p:spPr>
          <a:xfrm>
            <a:off x="685800" y="5779008"/>
            <a:ext cx="10789920" cy="365760"/>
          </a:xfrm>
          <a:prstGeom prst="rect">
            <a:avLst/>
          </a:prstGeom>
          <a:noFill/>
          <a:ln/>
        </p:spPr>
        <p:txBody>
          <a:bodyPr wrap="square" lIns="0" tIns="0" rIns="0" bIns="0" rtlCol="0" anchor="ctr"/>
          <a:lstStyle/>
          <a:p>
            <a:pPr indent="0" marL="0">
              <a:buNone/>
            </a:pPr>
            <a:r>
              <a:rPr lang="en-US" sz="2200" dirty="0">
                <a:solidFill>
                  <a:srgbClr val="65685E"/>
                </a:solidFill>
                <a:latin typeface="Arial" pitchFamily="34" charset="0"/>
                <a:ea typeface="Arial" pitchFamily="34" charset="-122"/>
                <a:cs typeface="Arial" pitchFamily="34" charset="-120"/>
              </a:rPr>
              <a:t>Add launch context to your research.</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07 / WORKING TODAY</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65685E"/>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07 / 09</a:t>
            </a:r>
            <a:endParaRPr lang="en-US" sz="900" dirty="0"/>
          </a:p>
        </p:txBody>
      </p:sp>
      <p:sp>
        <p:nvSpPr>
          <p:cNvPr id="5" name="Text 3"/>
          <p:cNvSpPr/>
          <p:nvPr/>
        </p:nvSpPr>
        <p:spPr>
          <a:xfrm>
            <a:off x="685800" y="1097280"/>
            <a:ext cx="6583680" cy="1325880"/>
          </a:xfrm>
          <a:prstGeom prst="rect">
            <a:avLst/>
          </a:prstGeom>
          <a:noFill/>
          <a:ln/>
        </p:spPr>
        <p:txBody>
          <a:bodyPr wrap="square" lIns="0" tIns="0" rIns="0" bIns="0" rtlCol="0" anchor="t"/>
          <a:lstStyle/>
          <a:p>
            <a:pPr indent="0" marL="0">
              <a:lnSpc>
                <a:spcPct val="100000"/>
              </a:lnSpc>
              <a:buNone/>
            </a:pPr>
            <a:r>
              <a:rPr lang="en-US" sz="4300" b="1" spc="-70" kern="0" dirty="0">
                <a:solidFill>
                  <a:srgbClr val="1A1A1A"/>
                </a:solidFill>
                <a:latin typeface="Arial" pitchFamily="34" charset="0"/>
                <a:ea typeface="Arial" pitchFamily="34" charset="-122"/>
                <a:cs typeface="Arial" pitchFamily="34" charset="-120"/>
              </a:rPr>
              <a:t>Live. Tested.</a:t>
            </a:r>
            <a:endParaRPr lang="en-US" sz="4300" dirty="0"/>
          </a:p>
          <a:p>
            <a:pPr indent="0" marL="0">
              <a:lnSpc>
                <a:spcPct val="100000"/>
              </a:lnSpc>
              <a:buNone/>
            </a:pPr>
            <a:r>
              <a:rPr lang="en-US" sz="4300" b="1" spc="-70" kern="0" dirty="0">
                <a:solidFill>
                  <a:srgbClr val="1A1A1A"/>
                </a:solidFill>
                <a:latin typeface="Arial" pitchFamily="34" charset="0"/>
                <a:ea typeface="Arial" pitchFamily="34" charset="-122"/>
                <a:cs typeface="Arial" pitchFamily="34" charset="-120"/>
              </a:rPr>
              <a:t>Ready to explore.</a:t>
            </a:r>
            <a:endParaRPr lang="en-US" sz="4300" dirty="0"/>
          </a:p>
        </p:txBody>
      </p:sp>
      <p:sp>
        <p:nvSpPr>
          <p:cNvPr id="6" name="Text 4"/>
          <p:cNvSpPr/>
          <p:nvPr/>
        </p:nvSpPr>
        <p:spPr>
          <a:xfrm>
            <a:off x="640080" y="2788920"/>
            <a:ext cx="5943600" cy="1325880"/>
          </a:xfrm>
          <a:prstGeom prst="rect">
            <a:avLst/>
          </a:prstGeom>
          <a:noFill/>
          <a:ln/>
        </p:spPr>
        <p:txBody>
          <a:bodyPr wrap="square" lIns="0" tIns="0" rIns="0" bIns="0" rtlCol="0" anchor="ctr"/>
          <a:lstStyle/>
          <a:p>
            <a:pPr indent="0" marL="0">
              <a:buNone/>
            </a:pPr>
            <a:r>
              <a:rPr lang="en-US" sz="10800" spc="-500" kern="0" dirty="0">
                <a:solidFill>
                  <a:srgbClr val="1A1A1A"/>
                </a:solidFill>
                <a:latin typeface="Arial" pitchFamily="34" charset="0"/>
                <a:ea typeface="Arial" pitchFamily="34" charset="-122"/>
                <a:cs typeface="Arial" pitchFamily="34" charset="-120"/>
              </a:rPr>
              <a:t>100</a:t>
            </a:r>
            <a:endParaRPr lang="en-US" sz="10800" dirty="0"/>
          </a:p>
        </p:txBody>
      </p:sp>
      <p:sp>
        <p:nvSpPr>
          <p:cNvPr id="7" name="Text 5"/>
          <p:cNvSpPr/>
          <p:nvPr/>
        </p:nvSpPr>
        <p:spPr>
          <a:xfrm>
            <a:off x="685800" y="4370832"/>
            <a:ext cx="6126480" cy="795528"/>
          </a:xfrm>
          <a:prstGeom prst="rect">
            <a:avLst/>
          </a:prstGeom>
          <a:noFill/>
          <a:ln/>
        </p:spPr>
        <p:txBody>
          <a:bodyPr wrap="square" lIns="0" tIns="0" rIns="0" bIns="0" rtlCol="0" anchor="t"/>
          <a:lstStyle/>
          <a:p>
            <a:pPr indent="0" marL="0">
              <a:buNone/>
            </a:pPr>
            <a:r>
              <a:rPr lang="en-US" sz="2400" dirty="0">
                <a:solidFill>
                  <a:srgbClr val="1A1A1A"/>
                </a:solidFill>
                <a:latin typeface="Arial" pitchFamily="34" charset="0"/>
                <a:ea typeface="Arial" pitchFamily="34" charset="-122"/>
                <a:cs typeface="Arial" pitchFamily="34" charset="-120"/>
              </a:rPr>
              <a:t>Real Meteora DBC pools</a:t>
            </a:r>
            <a:endParaRPr lang="en-US" sz="2400" dirty="0"/>
          </a:p>
          <a:p>
            <a:pPr indent="0" marL="0">
              <a:buNone/>
            </a:pPr>
            <a:r>
              <a:rPr lang="en-US" sz="2400" dirty="0">
                <a:solidFill>
                  <a:srgbClr val="1A1A1A"/>
                </a:solidFill>
                <a:latin typeface="Arial" pitchFamily="34" charset="0"/>
                <a:ea typeface="Arial" pitchFamily="34" charset="-122"/>
                <a:cs typeface="Arial" pitchFamily="34" charset="-120"/>
              </a:rPr>
              <a:t>used to validate the product.</a:t>
            </a:r>
            <a:endParaRPr lang="en-US" sz="2400" dirty="0"/>
          </a:p>
        </p:txBody>
      </p:sp>
      <p:sp>
        <p:nvSpPr>
          <p:cNvPr id="8" name="Text 6"/>
          <p:cNvSpPr/>
          <p:nvPr/>
        </p:nvSpPr>
        <p:spPr>
          <a:xfrm>
            <a:off x="685800" y="5486400"/>
            <a:ext cx="6400800" cy="640080"/>
          </a:xfrm>
          <a:prstGeom prst="rect">
            <a:avLst/>
          </a:prstGeom>
          <a:noFill/>
          <a:ln/>
        </p:spPr>
        <p:txBody>
          <a:bodyPr wrap="square" lIns="0" tIns="0" rIns="0" bIns="0" rtlCol="0" anchor="t"/>
          <a:lstStyle/>
          <a:p>
            <a:pPr indent="0" marL="0">
              <a:buNone/>
            </a:pPr>
            <a:r>
              <a:rPr lang="en-US" sz="2000" dirty="0">
                <a:solidFill>
                  <a:srgbClr val="65685E"/>
                </a:solidFill>
                <a:latin typeface="Arial" pitchFamily="34" charset="0"/>
                <a:ea typeface="Arial" pitchFamily="34" charset="-122"/>
                <a:cs typeface="Arial" pitchFamily="34" charset="-120"/>
              </a:rPr>
              <a:t>Desktop and mobile.</a:t>
            </a:r>
            <a:endParaRPr lang="en-US" sz="2000" dirty="0"/>
          </a:p>
          <a:p>
            <a:pPr indent="0" marL="0">
              <a:buNone/>
            </a:pPr>
            <a:r>
              <a:rPr lang="en-US" sz="2000" dirty="0">
                <a:solidFill>
                  <a:srgbClr val="65685E"/>
                </a:solidFill>
                <a:latin typeface="Arial" pitchFamily="34" charset="0"/>
                <a:ea typeface="Arial" pitchFamily="34" charset="-122"/>
                <a:cs typeface="Arial" pitchFamily="34" charset="-120"/>
              </a:rPr>
              <a:t>No account or wallet required.</a:t>
            </a:r>
            <a:endParaRPr lang="en-US" sz="2000" dirty="0"/>
          </a:p>
        </p:txBody>
      </p:sp>
      <p:sp>
        <p:nvSpPr>
          <p:cNvPr id="9" name="Shape 7"/>
          <p:cNvSpPr/>
          <p:nvPr/>
        </p:nvSpPr>
        <p:spPr>
          <a:xfrm>
            <a:off x="8275320" y="1051560"/>
            <a:ext cx="2523744" cy="5266944"/>
          </a:xfrm>
          <a:prstGeom prst="rect">
            <a:avLst/>
          </a:prstGeom>
          <a:solidFill>
            <a:srgbClr val="EEEFE5"/>
          </a:solidFill>
          <a:ln w="12700">
            <a:solidFill>
              <a:srgbClr val="EEEFE5">
                <a:alpha val="0"/>
              </a:srgbClr>
            </a:solidFill>
            <a:prstDash val="solid"/>
          </a:ln>
        </p:spPr>
      </p:sp>
      <p:pic>
        <p:nvPicPr>
          <p:cNvPr id="10" name="Image 0" descr="C:\Users\User\Documents\work\Claude\dbc-guard\public\submission\assets\product-mobile.png">    </p:cNvPr>
          <p:cNvPicPr>
            <a:picLocks noChangeAspect="1"/>
          </p:cNvPicPr>
          <p:nvPr/>
        </p:nvPicPr>
        <p:blipFill>
          <a:blip r:embed="rId1"/>
          <a:stretch>
            <a:fillRect/>
          </a:stretch>
        </p:blipFill>
        <p:spPr>
          <a:xfrm>
            <a:off x="8394192" y="1170432"/>
            <a:ext cx="2286000" cy="49469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3"/>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65685E"/>
                </a:solidFill>
                <a:latin typeface="Courier New" pitchFamily="34" charset="0"/>
                <a:ea typeface="Courier New" pitchFamily="34" charset="-122"/>
                <a:cs typeface="Courier New" pitchFamily="34" charset="-120"/>
              </a:rPr>
              <a:t>08 / THE FOUNDER</a:t>
            </a:r>
            <a:endParaRPr lang="en-US" sz="1000" dirty="0"/>
          </a:p>
        </p:txBody>
      </p:sp>
      <p:sp>
        <p:nvSpPr>
          <p:cNvPr id="3" name="Text 1"/>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65685E"/>
                </a:solidFill>
                <a:latin typeface="Courier New" pitchFamily="34" charset="0"/>
                <a:ea typeface="Courier New" pitchFamily="34" charset="-122"/>
                <a:cs typeface="Courier New" pitchFamily="34" charset="-120"/>
              </a:rPr>
              <a:t>08 / 09</a:t>
            </a:r>
            <a:endParaRPr lang="en-US" sz="900" dirty="0"/>
          </a:p>
        </p:txBody>
      </p:sp>
      <p:sp>
        <p:nvSpPr>
          <p:cNvPr id="4" name="Text 2"/>
          <p:cNvSpPr/>
          <p:nvPr/>
        </p:nvSpPr>
        <p:spPr>
          <a:xfrm>
            <a:off x="685800" y="1078992"/>
            <a:ext cx="5989320" cy="1463040"/>
          </a:xfrm>
          <a:prstGeom prst="rect">
            <a:avLst/>
          </a:prstGeom>
          <a:noFill/>
          <a:ln/>
        </p:spPr>
        <p:txBody>
          <a:bodyPr wrap="square" lIns="0" tIns="0" rIns="0" bIns="0" rtlCol="0" anchor="t"/>
          <a:lstStyle/>
          <a:p>
            <a:pPr indent="0" marL="0">
              <a:lnSpc>
                <a:spcPct val="100000"/>
              </a:lnSpc>
              <a:buNone/>
            </a:pPr>
            <a:r>
              <a:rPr lang="en-US" sz="4800" b="1" spc="-70" kern="0" dirty="0">
                <a:solidFill>
                  <a:srgbClr val="1A1A1A"/>
                </a:solidFill>
                <a:latin typeface="Arial" pitchFamily="34" charset="0"/>
                <a:ea typeface="Arial" pitchFamily="34" charset="-122"/>
                <a:cs typeface="Arial" pitchFamily="34" charset="-120"/>
              </a:rPr>
              <a:t>Daniyar</a:t>
            </a:r>
            <a:endParaRPr lang="en-US" sz="4800" dirty="0"/>
          </a:p>
          <a:p>
            <a:pPr indent="0" marL="0">
              <a:lnSpc>
                <a:spcPct val="100000"/>
              </a:lnSpc>
              <a:buNone/>
            </a:pPr>
            <a:r>
              <a:rPr lang="en-US" sz="4800" b="1" spc="-70" kern="0" dirty="0">
                <a:solidFill>
                  <a:srgbClr val="1A1A1A"/>
                </a:solidFill>
                <a:latin typeface="Arial" pitchFamily="34" charset="0"/>
                <a:ea typeface="Arial" pitchFamily="34" charset="-122"/>
                <a:cs typeface="Arial" pitchFamily="34" charset="-120"/>
              </a:rPr>
              <a:t>Gabdullin</a:t>
            </a:r>
            <a:endParaRPr lang="en-US" sz="4800" dirty="0"/>
          </a:p>
        </p:txBody>
      </p:sp>
      <p:sp>
        <p:nvSpPr>
          <p:cNvPr id="5" name="Text 3"/>
          <p:cNvSpPr/>
          <p:nvPr/>
        </p:nvSpPr>
        <p:spPr>
          <a:xfrm>
            <a:off x="685800" y="2862072"/>
            <a:ext cx="5623560" cy="457200"/>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Product Builder / Blockchain &amp; AI</a:t>
            </a:r>
            <a:endParaRPr lang="en-US" sz="2300" dirty="0"/>
          </a:p>
        </p:txBody>
      </p:sp>
      <p:sp>
        <p:nvSpPr>
          <p:cNvPr id="6" name="Text 4"/>
          <p:cNvSpPr/>
          <p:nvPr/>
        </p:nvSpPr>
        <p:spPr>
          <a:xfrm>
            <a:off x="685800" y="3611880"/>
            <a:ext cx="5120640" cy="1005840"/>
          </a:xfrm>
          <a:prstGeom prst="rect">
            <a:avLst/>
          </a:prstGeom>
          <a:noFill/>
          <a:ln/>
        </p:spPr>
        <p:txBody>
          <a:bodyPr wrap="square" lIns="0" tIns="0" rIns="0" bIns="0" rtlCol="0" anchor="t"/>
          <a:lstStyle/>
          <a:p>
            <a:pPr indent="0" marL="0">
              <a:buNone/>
            </a:pPr>
            <a:r>
              <a:rPr lang="en-US" sz="2200" dirty="0">
                <a:solidFill>
                  <a:srgbClr val="65685E"/>
                </a:solidFill>
                <a:latin typeface="Arial" pitchFamily="34" charset="0"/>
                <a:ea typeface="Arial" pitchFamily="34" charset="-122"/>
                <a:cs typeface="Arial" pitchFamily="34" charset="-120"/>
              </a:rPr>
              <a:t>Building in crypto since 2019.</a:t>
            </a:r>
            <a:endParaRPr lang="en-US" sz="2200" dirty="0"/>
          </a:p>
          <a:p>
            <a:pPr indent="0" marL="0">
              <a:buNone/>
            </a:pPr>
            <a:r>
              <a:rPr lang="en-US" sz="2200" dirty="0">
                <a:solidFill>
                  <a:srgbClr val="65685E"/>
                </a:solidFill>
                <a:latin typeface="Arial" pitchFamily="34" charset="0"/>
                <a:ea typeface="Arial" pitchFamily="34" charset="-122"/>
                <a:cs typeface="Arial" pitchFamily="34" charset="-120"/>
              </a:rPr>
              <a:t>Practical products for people using Solana.</a:t>
            </a:r>
            <a:endParaRPr lang="en-US" sz="2200" dirty="0"/>
          </a:p>
        </p:txBody>
      </p:sp>
      <p:sp>
        <p:nvSpPr>
          <p:cNvPr id="7" name="Text 5">
            <a:hlinkClick r:id="rId1" tooltip="portfolio.whoim.space"/>
          </p:cNvPr>
          <p:cNvSpPr/>
          <p:nvPr/>
        </p:nvSpPr>
        <p:spPr>
          <a:xfrm>
            <a:off x="685800" y="5193792"/>
            <a:ext cx="5303520" cy="320040"/>
          </a:xfrm>
          <a:prstGeom prst="rect">
            <a:avLst/>
          </a:prstGeom>
          <a:noFill/>
          <a:ln/>
        </p:spPr>
        <p:txBody>
          <a:bodyPr wrap="square" lIns="0" tIns="0" rIns="0" bIns="0" rtlCol="0" anchor="ctr"/>
          <a:lstStyle/>
          <a:p>
            <a:pPr indent="0" marL="0">
              <a:buNone/>
            </a:pPr>
            <a:r>
              <a:rPr lang="en-US" sz="1600" u="sng" dirty="0">
                <a:solidFill>
                  <a:srgbClr val="1A1A1A"/>
                </a:solidFill>
                <a:latin typeface="Arial" pitchFamily="34" charset="0"/>
                <a:ea typeface="Arial" pitchFamily="34" charset="-122"/>
                <a:cs typeface="Arial" pitchFamily="34" charset="-120"/>
                <a:hlinkClick r:id="rId1" invalidUrl="" action="" tgtFrame="" tooltip="portfolio.whoim.space" history="1" highlightClick="0" endSnd="0">
                  <a:extLst>
                    <a:ext uri="{A12FA001-AC4F-418D-AE19-62706E023703}">
                      <ahyp:hlinkClr xmlns:ahyp="http://schemas.microsoft.com/office/drawing/2018/hyperlinkcolor" val="tx"/>
                    </a:ext>
                  </a:extLst>
                </a:hlinkClick>
              </a:rPr>
              <a:t>portfolio.whoim.space</a:t>
            </a:r>
            <a:endParaRPr lang="en-US" sz="1600" dirty="0"/>
          </a:p>
        </p:txBody>
      </p:sp>
      <p:sp>
        <p:nvSpPr>
          <p:cNvPr id="8" name="Text 6">
            <a:hlinkClick r:id="rId2" tooltip="Meet Daniyar on LinkedIn"/>
          </p:cNvPr>
          <p:cNvSpPr/>
          <p:nvPr/>
        </p:nvSpPr>
        <p:spPr>
          <a:xfrm>
            <a:off x="685800" y="5696712"/>
            <a:ext cx="5303520" cy="320040"/>
          </a:xfrm>
          <a:prstGeom prst="rect">
            <a:avLst/>
          </a:prstGeom>
          <a:noFill/>
          <a:ln/>
        </p:spPr>
        <p:txBody>
          <a:bodyPr wrap="square" lIns="0" tIns="0" rIns="0" bIns="0" rtlCol="0" anchor="ctr"/>
          <a:lstStyle/>
          <a:p>
            <a:pPr indent="0" marL="0">
              <a:buNone/>
            </a:pPr>
            <a:r>
              <a:rPr lang="en-US" sz="1600" u="sng" dirty="0">
                <a:solidFill>
                  <a:srgbClr val="1A1A1A"/>
                </a:solidFill>
                <a:latin typeface="Arial" pitchFamily="34" charset="0"/>
                <a:ea typeface="Arial" pitchFamily="34" charset="-122"/>
                <a:cs typeface="Arial" pitchFamily="34" charset="-120"/>
                <a:hlinkClick r:id="rId2" invalidUrl="" action="" tgtFrame="" tooltip="Meet Daniyar on LinkedIn" history="1" highlightClick="0" endSnd="0">
                  <a:extLst>
                    <a:ext uri="{A12FA001-AC4F-418D-AE19-62706E023703}">
                      <ahyp:hlinkClr xmlns:ahyp="http://schemas.microsoft.com/office/drawing/2018/hyperlinkcolor" val="tx"/>
                    </a:ext>
                  </a:extLst>
                </a:hlinkClick>
              </a:rPr>
              <a:t>Meet Daniyar on LinkedIn</a:t>
            </a:r>
            <a:endParaRPr lang="en-US" sz="1600" dirty="0"/>
          </a:p>
        </p:txBody>
      </p:sp>
      <p:sp>
        <p:nvSpPr>
          <p:cNvPr id="9" name="Shape 7"/>
          <p:cNvSpPr/>
          <p:nvPr/>
        </p:nvSpPr>
        <p:spPr>
          <a:xfrm>
            <a:off x="6528816" y="1325880"/>
            <a:ext cx="4965192" cy="1280160"/>
          </a:xfrm>
          <a:prstGeom prst="rect">
            <a:avLst/>
          </a:prstGeom>
          <a:solidFill>
            <a:srgbClr val="EEEFE5"/>
          </a:solidFill>
          <a:ln w="12700">
            <a:solidFill>
              <a:srgbClr val="EEEFE5">
                <a:alpha val="0"/>
              </a:srgbClr>
            </a:solidFill>
            <a:prstDash val="solid"/>
          </a:ln>
        </p:spPr>
      </p:sp>
      <p:sp>
        <p:nvSpPr>
          <p:cNvPr id="10" name="Text 8"/>
          <p:cNvSpPr/>
          <p:nvPr/>
        </p:nvSpPr>
        <p:spPr>
          <a:xfrm>
            <a:off x="6793992" y="1490472"/>
            <a:ext cx="4425696" cy="219456"/>
          </a:xfrm>
          <a:prstGeom prst="rect">
            <a:avLst/>
          </a:prstGeom>
          <a:noFill/>
          <a:ln/>
        </p:spPr>
        <p:txBody>
          <a:bodyPr wrap="square" lIns="0" tIns="0" rIns="0" bIns="0" rtlCol="0" anchor="ctr"/>
          <a:lstStyle/>
          <a:p>
            <a:pPr indent="0" marL="0">
              <a:buNone/>
            </a:pPr>
            <a:r>
              <a:rPr lang="en-US" sz="1000" dirty="0">
                <a:solidFill>
                  <a:srgbClr val="65685E"/>
                </a:solidFill>
                <a:latin typeface="Courier New" pitchFamily="34" charset="0"/>
                <a:ea typeface="Courier New" pitchFamily="34" charset="-122"/>
                <a:cs typeface="Courier New" pitchFamily="34" charset="-120"/>
              </a:rPr>
              <a:t>PRODUCTS</a:t>
            </a:r>
            <a:endParaRPr lang="en-US" sz="1000" dirty="0"/>
          </a:p>
        </p:txBody>
      </p:sp>
      <p:sp>
        <p:nvSpPr>
          <p:cNvPr id="11" name="Text 9"/>
          <p:cNvSpPr/>
          <p:nvPr/>
        </p:nvSpPr>
        <p:spPr>
          <a:xfrm>
            <a:off x="6793992" y="1847088"/>
            <a:ext cx="4425696" cy="603504"/>
          </a:xfrm>
          <a:prstGeom prst="rect">
            <a:avLst/>
          </a:prstGeom>
          <a:noFill/>
          <a:ln/>
        </p:spPr>
        <p:txBody>
          <a:bodyPr wrap="square" lIns="0" tIns="0" rIns="0" bIns="0" rtlCol="0" anchor="t"/>
          <a:lstStyle/>
          <a:p>
            <a:pPr indent="0" marL="0">
              <a:buNone/>
            </a:pPr>
            <a:r>
              <a:rPr lang="en-US" sz="1800" dirty="0">
                <a:solidFill>
                  <a:srgbClr val="1A1A1A"/>
                </a:solidFill>
                <a:latin typeface="Arial" pitchFamily="34" charset="0"/>
                <a:ea typeface="Arial" pitchFamily="34" charset="-122"/>
                <a:cs typeface="Arial" pitchFamily="34" charset="-120"/>
              </a:rPr>
              <a:t>Creator of Seeker Vault</a:t>
            </a:r>
            <a:endParaRPr lang="en-US" sz="1800" dirty="0"/>
          </a:p>
          <a:p>
            <a:pPr indent="0" marL="0">
              <a:buNone/>
            </a:pPr>
            <a:r>
              <a:rPr lang="en-US" sz="1800" dirty="0">
                <a:solidFill>
                  <a:srgbClr val="1A1A1A"/>
                </a:solidFill>
                <a:latin typeface="Arial" pitchFamily="34" charset="0"/>
                <a:ea typeface="Arial" pitchFamily="34" charset="-122"/>
                <a:cs typeface="Arial" pitchFamily="34" charset="-120"/>
              </a:rPr>
              <a:t>and X-Booster</a:t>
            </a:r>
            <a:endParaRPr lang="en-US" sz="1800" dirty="0"/>
          </a:p>
        </p:txBody>
      </p:sp>
      <p:sp>
        <p:nvSpPr>
          <p:cNvPr id="12" name="Shape 10"/>
          <p:cNvSpPr/>
          <p:nvPr/>
        </p:nvSpPr>
        <p:spPr>
          <a:xfrm>
            <a:off x="6528816" y="2807208"/>
            <a:ext cx="4965192" cy="1280160"/>
          </a:xfrm>
          <a:prstGeom prst="rect">
            <a:avLst/>
          </a:prstGeom>
          <a:solidFill>
            <a:srgbClr val="EEEFE5"/>
          </a:solidFill>
          <a:ln w="12700">
            <a:solidFill>
              <a:srgbClr val="EEEFE5">
                <a:alpha val="0"/>
              </a:srgbClr>
            </a:solidFill>
            <a:prstDash val="solid"/>
          </a:ln>
        </p:spPr>
      </p:sp>
      <p:sp>
        <p:nvSpPr>
          <p:cNvPr id="13" name="Text 11"/>
          <p:cNvSpPr/>
          <p:nvPr/>
        </p:nvSpPr>
        <p:spPr>
          <a:xfrm>
            <a:off x="6793992" y="2971800"/>
            <a:ext cx="4425696" cy="219456"/>
          </a:xfrm>
          <a:prstGeom prst="rect">
            <a:avLst/>
          </a:prstGeom>
          <a:noFill/>
          <a:ln/>
        </p:spPr>
        <p:txBody>
          <a:bodyPr wrap="square" lIns="0" tIns="0" rIns="0" bIns="0" rtlCol="0" anchor="ctr"/>
          <a:lstStyle/>
          <a:p>
            <a:pPr indent="0" marL="0">
              <a:buNone/>
            </a:pPr>
            <a:r>
              <a:rPr lang="en-US" sz="1000" dirty="0">
                <a:solidFill>
                  <a:srgbClr val="65685E"/>
                </a:solidFill>
                <a:latin typeface="Courier New" pitchFamily="34" charset="0"/>
                <a:ea typeface="Courier New" pitchFamily="34" charset="-122"/>
                <a:cs typeface="Courier New" pitchFamily="34" charset="-120"/>
              </a:rPr>
              <a:t>EDUCATION</a:t>
            </a:r>
            <a:endParaRPr lang="en-US" sz="1000" dirty="0"/>
          </a:p>
        </p:txBody>
      </p:sp>
      <p:sp>
        <p:nvSpPr>
          <p:cNvPr id="14" name="Text 12"/>
          <p:cNvSpPr/>
          <p:nvPr/>
        </p:nvSpPr>
        <p:spPr>
          <a:xfrm>
            <a:off x="6793992" y="3328416"/>
            <a:ext cx="4425696" cy="603504"/>
          </a:xfrm>
          <a:prstGeom prst="rect">
            <a:avLst/>
          </a:prstGeom>
          <a:noFill/>
          <a:ln/>
        </p:spPr>
        <p:txBody>
          <a:bodyPr wrap="square" lIns="0" tIns="0" rIns="0" bIns="0" rtlCol="0" anchor="t"/>
          <a:lstStyle/>
          <a:p>
            <a:pPr indent="0" marL="0">
              <a:buNone/>
            </a:pPr>
            <a:r>
              <a:rPr lang="en-US" sz="1800" dirty="0">
                <a:solidFill>
                  <a:srgbClr val="1A1A1A"/>
                </a:solidFill>
                <a:latin typeface="Arial" pitchFamily="34" charset="0"/>
                <a:ea typeface="Arial" pitchFamily="34" charset="-122"/>
                <a:cs typeface="Arial" pitchFamily="34" charset="-120"/>
              </a:rPr>
              <a:t>Information Security</a:t>
            </a:r>
            <a:endParaRPr lang="en-US" sz="1800" dirty="0"/>
          </a:p>
          <a:p>
            <a:pPr indent="0" marL="0">
              <a:buNone/>
            </a:pPr>
            <a:r>
              <a:rPr lang="en-US" sz="1800" dirty="0">
                <a:solidFill>
                  <a:srgbClr val="1A1A1A"/>
                </a:solidFill>
                <a:latin typeface="Arial" pitchFamily="34" charset="0"/>
                <a:ea typeface="Arial" pitchFamily="34" charset="-122"/>
                <a:cs typeface="Arial" pitchFamily="34" charset="-120"/>
              </a:rPr>
              <a:t>Kazakh National Technical University</a:t>
            </a:r>
            <a:endParaRPr lang="en-US" sz="1800" dirty="0"/>
          </a:p>
        </p:txBody>
      </p:sp>
      <p:sp>
        <p:nvSpPr>
          <p:cNvPr id="15" name="Shape 13"/>
          <p:cNvSpPr/>
          <p:nvPr/>
        </p:nvSpPr>
        <p:spPr>
          <a:xfrm>
            <a:off x="6528816" y="4288536"/>
            <a:ext cx="4965192" cy="1280160"/>
          </a:xfrm>
          <a:prstGeom prst="rect">
            <a:avLst/>
          </a:prstGeom>
          <a:solidFill>
            <a:srgbClr val="EEEFE5"/>
          </a:solidFill>
          <a:ln w="12700">
            <a:solidFill>
              <a:srgbClr val="EEEFE5">
                <a:alpha val="0"/>
              </a:srgbClr>
            </a:solidFill>
            <a:prstDash val="solid"/>
          </a:ln>
        </p:spPr>
      </p:sp>
      <p:sp>
        <p:nvSpPr>
          <p:cNvPr id="16" name="Text 14"/>
          <p:cNvSpPr/>
          <p:nvPr/>
        </p:nvSpPr>
        <p:spPr>
          <a:xfrm>
            <a:off x="6793992" y="4453128"/>
            <a:ext cx="4425696" cy="219456"/>
          </a:xfrm>
          <a:prstGeom prst="rect">
            <a:avLst/>
          </a:prstGeom>
          <a:noFill/>
          <a:ln/>
        </p:spPr>
        <p:txBody>
          <a:bodyPr wrap="square" lIns="0" tIns="0" rIns="0" bIns="0" rtlCol="0" anchor="ctr"/>
          <a:lstStyle/>
          <a:p>
            <a:pPr indent="0" marL="0">
              <a:buNone/>
            </a:pPr>
            <a:r>
              <a:rPr lang="en-US" sz="1000" dirty="0">
                <a:solidFill>
                  <a:srgbClr val="65685E"/>
                </a:solidFill>
                <a:latin typeface="Courier New" pitchFamily="34" charset="0"/>
                <a:ea typeface="Courier New" pitchFamily="34" charset="-122"/>
                <a:cs typeface="Courier New" pitchFamily="34" charset="-120"/>
              </a:rPr>
              <a:t>LEADERSHIP</a:t>
            </a:r>
            <a:endParaRPr lang="en-US" sz="1000" dirty="0"/>
          </a:p>
        </p:txBody>
      </p:sp>
      <p:sp>
        <p:nvSpPr>
          <p:cNvPr id="17" name="Text 15"/>
          <p:cNvSpPr/>
          <p:nvPr/>
        </p:nvSpPr>
        <p:spPr>
          <a:xfrm>
            <a:off x="6793992" y="4809744"/>
            <a:ext cx="4425696" cy="603504"/>
          </a:xfrm>
          <a:prstGeom prst="rect">
            <a:avLst/>
          </a:prstGeom>
          <a:noFill/>
          <a:ln/>
        </p:spPr>
        <p:txBody>
          <a:bodyPr wrap="square" lIns="0" tIns="0" rIns="0" bIns="0" rtlCol="0" anchor="t"/>
          <a:lstStyle/>
          <a:p>
            <a:pPr indent="0" marL="0">
              <a:buNone/>
            </a:pPr>
            <a:r>
              <a:rPr lang="en-US" sz="1600" dirty="0">
                <a:solidFill>
                  <a:srgbClr val="1A1A1A"/>
                </a:solidFill>
                <a:latin typeface="Arial" pitchFamily="34" charset="0"/>
                <a:ea typeface="Arial" pitchFamily="34" charset="-122"/>
                <a:cs typeface="Arial" pitchFamily="34" charset="-120"/>
              </a:rPr>
              <a:t>Former Technical Director, SIA Amakids</a:t>
            </a:r>
            <a:endParaRPr lang="en-US" sz="1600" dirty="0"/>
          </a:p>
          <a:p>
            <a:pPr indent="0" marL="0">
              <a:buNone/>
            </a:pPr>
            <a:r>
              <a:rPr lang="en-US" sz="1600" dirty="0">
                <a:solidFill>
                  <a:srgbClr val="1A1A1A"/>
                </a:solidFill>
                <a:latin typeface="Arial" pitchFamily="34" charset="0"/>
                <a:ea typeface="Arial" pitchFamily="34" charset="-122"/>
                <a:cs typeface="Arial" pitchFamily="34" charset="-120"/>
              </a:rPr>
              <a:t>Former Board Member, SIA GASD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685800" y="393192"/>
            <a:ext cx="9875520" cy="228600"/>
          </a:xfrm>
          <a:prstGeom prst="rect">
            <a:avLst/>
          </a:prstGeom>
          <a:noFill/>
          <a:ln/>
        </p:spPr>
        <p:txBody>
          <a:bodyPr wrap="square" lIns="0" tIns="0" rIns="0" bIns="0" rtlCol="0" anchor="ctr"/>
          <a:lstStyle/>
          <a:p>
            <a:pPr indent="0" marL="0">
              <a:buNone/>
            </a:pPr>
            <a:r>
              <a:rPr lang="en-US" sz="1000" spc="110" kern="0" dirty="0">
                <a:solidFill>
                  <a:srgbClr val="C4C8B9"/>
                </a:solidFill>
                <a:latin typeface="Courier New" pitchFamily="34" charset="0"/>
                <a:ea typeface="Courier New" pitchFamily="34" charset="-122"/>
                <a:cs typeface="Courier New" pitchFamily="34" charset="-120"/>
              </a:rPr>
              <a:t>09 / TRY DBC GUARD</a:t>
            </a:r>
            <a:endParaRPr lang="en-US" sz="1000" dirty="0"/>
          </a:p>
        </p:txBody>
      </p:sp>
      <p:sp>
        <p:nvSpPr>
          <p:cNvPr id="3" name="Text 1"/>
          <p:cNvSpPr/>
          <p:nvPr/>
        </p:nvSpPr>
        <p:spPr>
          <a:xfrm>
            <a:off x="685800" y="6419088"/>
            <a:ext cx="3017520" cy="182880"/>
          </a:xfrm>
          <a:prstGeom prst="rect">
            <a:avLst/>
          </a:prstGeom>
          <a:noFill/>
          <a:ln/>
        </p:spPr>
        <p:txBody>
          <a:bodyPr wrap="square" lIns="0" tIns="0" rIns="0" bIns="0" rtlCol="0" anchor="ctr"/>
          <a:lstStyle/>
          <a:p>
            <a:pPr indent="0" marL="0">
              <a:buNone/>
            </a:pPr>
            <a:r>
              <a:rPr lang="en-US" sz="900" spc="100" kern="0" dirty="0">
                <a:solidFill>
                  <a:srgbClr val="C4C8B9"/>
                </a:solidFill>
                <a:latin typeface="Courier New" pitchFamily="34" charset="0"/>
                <a:ea typeface="Courier New" pitchFamily="34" charset="-122"/>
                <a:cs typeface="Courier New" pitchFamily="34" charset="-120"/>
              </a:rPr>
              <a:t>DBC GUARD</a:t>
            </a:r>
            <a:endParaRPr lang="en-US" sz="900" dirty="0"/>
          </a:p>
        </p:txBody>
      </p:sp>
      <p:sp>
        <p:nvSpPr>
          <p:cNvPr id="4" name="Text 2"/>
          <p:cNvSpPr/>
          <p:nvPr/>
        </p:nvSpPr>
        <p:spPr>
          <a:xfrm>
            <a:off x="10561320" y="6419088"/>
            <a:ext cx="941832" cy="182880"/>
          </a:xfrm>
          <a:prstGeom prst="rect">
            <a:avLst/>
          </a:prstGeom>
          <a:noFill/>
          <a:ln/>
        </p:spPr>
        <p:txBody>
          <a:bodyPr wrap="square" lIns="0" tIns="0" rIns="0" bIns="0" rtlCol="0" anchor="ctr"/>
          <a:lstStyle/>
          <a:p>
            <a:pPr algn="r" indent="0" marL="0">
              <a:buNone/>
            </a:pPr>
            <a:r>
              <a:rPr lang="en-US" sz="900" dirty="0">
                <a:solidFill>
                  <a:srgbClr val="C4C8B9"/>
                </a:solidFill>
                <a:latin typeface="Courier New" pitchFamily="34" charset="0"/>
                <a:ea typeface="Courier New" pitchFamily="34" charset="-122"/>
                <a:cs typeface="Courier New" pitchFamily="34" charset="-120"/>
              </a:rPr>
              <a:t>09 / 09</a:t>
            </a:r>
            <a:endParaRPr lang="en-US" sz="900" dirty="0"/>
          </a:p>
        </p:txBody>
      </p:sp>
      <p:sp>
        <p:nvSpPr>
          <p:cNvPr id="5" name="Text 3"/>
          <p:cNvSpPr/>
          <p:nvPr/>
        </p:nvSpPr>
        <p:spPr>
          <a:xfrm>
            <a:off x="685800" y="1115568"/>
            <a:ext cx="10698480" cy="1783080"/>
          </a:xfrm>
          <a:prstGeom prst="rect">
            <a:avLst/>
          </a:prstGeom>
          <a:noFill/>
          <a:ln/>
        </p:spPr>
        <p:txBody>
          <a:bodyPr wrap="square" lIns="0" tIns="0" rIns="0" bIns="0" rtlCol="0" anchor="t"/>
          <a:lstStyle/>
          <a:p>
            <a:pPr indent="0" marL="0">
              <a:lnSpc>
                <a:spcPct val="100000"/>
              </a:lnSpc>
              <a:buNone/>
            </a:pPr>
            <a:r>
              <a:rPr lang="en-US" sz="5200" b="1" spc="-70" kern="0" dirty="0">
                <a:solidFill>
                  <a:srgbClr val="FAFAF3"/>
                </a:solidFill>
                <a:latin typeface="Arial" pitchFamily="34" charset="0"/>
                <a:ea typeface="Arial" pitchFamily="34" charset="-122"/>
                <a:cs typeface="Arial" pitchFamily="34" charset="-120"/>
              </a:rPr>
              <a:t>Know the launch.</a:t>
            </a:r>
            <a:endParaRPr lang="en-US" sz="5200" dirty="0"/>
          </a:p>
          <a:p>
            <a:pPr indent="0" marL="0">
              <a:lnSpc>
                <a:spcPct val="100000"/>
              </a:lnSpc>
              <a:buNone/>
            </a:pPr>
            <a:r>
              <a:rPr lang="en-US" sz="5200" b="1" spc="-70" kern="0" dirty="0">
                <a:solidFill>
                  <a:srgbClr val="FAFAF3"/>
                </a:solidFill>
                <a:latin typeface="Arial" pitchFamily="34" charset="0"/>
                <a:ea typeface="Arial" pitchFamily="34" charset="-122"/>
                <a:cs typeface="Arial" pitchFamily="34" charset="-120"/>
              </a:rPr>
              <a:t>Share the findings.</a:t>
            </a:r>
            <a:endParaRPr lang="en-US" sz="5200" dirty="0"/>
          </a:p>
        </p:txBody>
      </p:sp>
      <p:sp>
        <p:nvSpPr>
          <p:cNvPr id="6" name="Text 4"/>
          <p:cNvSpPr/>
          <p:nvPr/>
        </p:nvSpPr>
        <p:spPr>
          <a:xfrm>
            <a:off x="685800" y="3291840"/>
            <a:ext cx="8961120" cy="594360"/>
          </a:xfrm>
          <a:prstGeom prst="rect">
            <a:avLst/>
          </a:prstGeom>
          <a:noFill/>
          <a:ln/>
        </p:spPr>
        <p:txBody>
          <a:bodyPr wrap="square" lIns="0" tIns="0" rIns="0" bIns="0" rtlCol="0" anchor="ctr"/>
          <a:lstStyle/>
          <a:p>
            <a:pPr indent="0" marL="0">
              <a:buNone/>
            </a:pPr>
            <a:r>
              <a:rPr lang="en-US" sz="2400" dirty="0">
                <a:solidFill>
                  <a:srgbClr val="FAFAF3"/>
                </a:solidFill>
                <a:latin typeface="Arial" pitchFamily="34" charset="0"/>
                <a:ea typeface="Arial" pitchFamily="34" charset="-122"/>
                <a:cs typeface="Arial" pitchFamily="34" charset="-120"/>
              </a:rPr>
              <a:t>Paste a token. Review the launch. Share the report.</a:t>
            </a:r>
            <a:endParaRPr lang="en-US" sz="2400" dirty="0"/>
          </a:p>
        </p:txBody>
      </p:sp>
      <p:sp>
        <p:nvSpPr>
          <p:cNvPr id="7" name="Shape 5"/>
          <p:cNvSpPr/>
          <p:nvPr/>
        </p:nvSpPr>
        <p:spPr>
          <a:xfrm>
            <a:off x="685800" y="4361688"/>
            <a:ext cx="6126480" cy="822960"/>
          </a:xfrm>
          <a:prstGeom prst="rect">
            <a:avLst/>
          </a:prstGeom>
          <a:solidFill>
            <a:srgbClr val="FAFAF3"/>
          </a:solidFill>
          <a:ln w="12700">
            <a:solidFill>
              <a:srgbClr val="FAFAF3">
                <a:alpha val="0"/>
              </a:srgbClr>
            </a:solidFill>
            <a:prstDash val="solid"/>
          </a:ln>
        </p:spPr>
      </p:sp>
      <p:sp>
        <p:nvSpPr>
          <p:cNvPr id="8" name="Text 6">
            <a:hlinkClick r:id="rId1" tooltip="dbc.whoim.space"/>
          </p:cNvPr>
          <p:cNvSpPr/>
          <p:nvPr/>
        </p:nvSpPr>
        <p:spPr>
          <a:xfrm>
            <a:off x="941832" y="4526280"/>
            <a:ext cx="5577840" cy="475488"/>
          </a:xfrm>
          <a:prstGeom prst="rect">
            <a:avLst/>
          </a:prstGeom>
          <a:noFill/>
          <a:ln/>
        </p:spPr>
        <p:txBody>
          <a:bodyPr wrap="square" lIns="0" tIns="0" rIns="0" bIns="0" rtlCol="0" anchor="ctr"/>
          <a:lstStyle/>
          <a:p>
            <a:pPr indent="0" marL="0">
              <a:buNone/>
            </a:pPr>
            <a:r>
              <a:rPr lang="en-US" sz="3200" u="sng" dirty="0">
                <a:solidFill>
                  <a:srgbClr val="1A1A1A"/>
                </a:solidFill>
                <a:latin typeface="Arial" pitchFamily="34" charset="0"/>
                <a:ea typeface="Arial" pitchFamily="34" charset="-122"/>
                <a:cs typeface="Arial" pitchFamily="34" charset="-120"/>
                <a:hlinkClick r:id="rId1" invalidUrl="" action="" tgtFrame="" tooltip="dbc.whoim.space" history="1" highlightClick="0" endSnd="0">
                  <a:extLst>
                    <a:ext uri="{A12FA001-AC4F-418D-AE19-62706E023703}">
                      <ahyp:hlinkClr xmlns:ahyp="http://schemas.microsoft.com/office/drawing/2018/hyperlinkcolor" val="tx"/>
                    </a:ext>
                  </a:extLst>
                </a:hlinkClick>
              </a:rPr>
              <a:t>dbc.whoim.space</a:t>
            </a:r>
            <a:endParaRPr lang="en-US" sz="3200" dirty="0"/>
          </a:p>
        </p:txBody>
      </p:sp>
      <p:sp>
        <p:nvSpPr>
          <p:cNvPr id="9" name="Text 7">
            <a:hlinkClick r:id="rId2" tooltip="github.com/who1900/dbc-guard"/>
          </p:cNvPr>
          <p:cNvSpPr/>
          <p:nvPr/>
        </p:nvSpPr>
        <p:spPr>
          <a:xfrm>
            <a:off x="685800" y="5559552"/>
            <a:ext cx="7040880" cy="320040"/>
          </a:xfrm>
          <a:prstGeom prst="rect">
            <a:avLst/>
          </a:prstGeom>
          <a:noFill/>
          <a:ln/>
        </p:spPr>
        <p:txBody>
          <a:bodyPr wrap="square" lIns="0" tIns="0" rIns="0" bIns="0" rtlCol="0" anchor="ctr"/>
          <a:lstStyle/>
          <a:p>
            <a:pPr indent="0" marL="0">
              <a:buNone/>
            </a:pPr>
            <a:r>
              <a:rPr lang="en-US" sz="1500" u="sng" dirty="0">
                <a:solidFill>
                  <a:srgbClr val="C4C8B9"/>
                </a:solidFill>
                <a:latin typeface="Arial" pitchFamily="34" charset="0"/>
                <a:ea typeface="Arial" pitchFamily="34" charset="-122"/>
                <a:cs typeface="Arial" pitchFamily="34" charset="-120"/>
                <a:hlinkClick r:id="rId2" invalidUrl="" action="" tgtFrame="" tooltip="github.com/who1900/dbc-guard" history="1" highlightClick="0" endSnd="0">
                  <a:extLst>
                    <a:ext uri="{A12FA001-AC4F-418D-AE19-62706E023703}">
                      <ahyp:hlinkClr xmlns:ahyp="http://schemas.microsoft.com/office/drawing/2018/hyperlinkcolor" val="tx"/>
                    </a:ext>
                  </a:extLst>
                </a:hlinkClick>
              </a:rPr>
              <a:t>github.com/who1900/dbc-guard</a:t>
            </a:r>
            <a:endParaRPr lang="en-US" sz="1500" dirty="0"/>
          </a:p>
        </p:txBody>
      </p:sp>
      <p:sp>
        <p:nvSpPr>
          <p:cNvPr id="10" name="Shape 8"/>
          <p:cNvSpPr/>
          <p:nvPr/>
        </p:nvSpPr>
        <p:spPr>
          <a:xfrm>
            <a:off x="9418320" y="4123944"/>
            <a:ext cx="1828800" cy="1828800"/>
          </a:xfrm>
          <a:prstGeom prst="rect">
            <a:avLst/>
          </a:prstGeom>
          <a:solidFill>
            <a:srgbClr val="FAFAF3"/>
          </a:solidFill>
          <a:ln w="12700">
            <a:solidFill>
              <a:srgbClr val="FAFAF3">
                <a:alpha val="0"/>
              </a:srgbClr>
            </a:solidFill>
            <a:prstDash val="solid"/>
          </a:ln>
        </p:spPr>
      </p:sp>
      <p:pic>
        <p:nvPicPr>
          <p:cNvPr id="11" name="Image 0" descr="C:\Users\User\Documents\work\Claude\dbc-guard\output\presentation\product-qr.png">    </p:cNvPr>
          <p:cNvPicPr>
            <a:picLocks noChangeAspect="1"/>
          </p:cNvPicPr>
          <p:nvPr/>
        </p:nvPicPr>
        <p:blipFill>
          <a:blip r:embed="rId3"/>
          <a:stretch>
            <a:fillRect/>
          </a:stretch>
        </p:blipFill>
        <p:spPr>
          <a:xfrm>
            <a:off x="9418320" y="4123944"/>
            <a:ext cx="1828800" cy="1828800"/>
          </a:xfrm>
          <a:prstGeom prst="rect">
            <a:avLst/>
          </a:prstGeom>
        </p:spPr>
      </p:pic>
      <p:sp>
        <p:nvSpPr>
          <p:cNvPr id="12" name="Text 9"/>
          <p:cNvSpPr/>
          <p:nvPr/>
        </p:nvSpPr>
        <p:spPr>
          <a:xfrm>
            <a:off x="9326880" y="6062472"/>
            <a:ext cx="2011680" cy="201168"/>
          </a:xfrm>
          <a:prstGeom prst="rect">
            <a:avLst/>
          </a:prstGeom>
          <a:noFill/>
          <a:ln/>
        </p:spPr>
        <p:txBody>
          <a:bodyPr wrap="square" lIns="0" tIns="0" rIns="0" bIns="0" rtlCol="0" anchor="ctr"/>
          <a:lstStyle/>
          <a:p>
            <a:pPr algn="ctr" indent="0" marL="0">
              <a:buNone/>
            </a:pPr>
            <a:r>
              <a:rPr lang="en-US" sz="1000" dirty="0">
                <a:solidFill>
                  <a:srgbClr val="C4C8B9"/>
                </a:solidFill>
                <a:latin typeface="Courier New" pitchFamily="34" charset="0"/>
                <a:ea typeface="Courier New" pitchFamily="34" charset="-122"/>
                <a:cs typeface="Courier New" pitchFamily="34" charset="-120"/>
              </a:rPr>
              <a:t>TRY DBC GUARD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DBC 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DBC Guard — Understand a Meteora launch before you trade</dc:title>
  <dc:subject>DBC Guard product presentation</dc:subject>
  <dc:creator>Daniyar Gabdullin</dc:creator>
  <cp:lastModifiedBy>Daniyar Gabdullin</cp:lastModifiedBy>
  <cp:revision>1</cp:revision>
  <dcterms:created xsi:type="dcterms:W3CDTF">2026-10-08T17:49:33Z</dcterms:created>
  <dcterms:modified xsi:type="dcterms:W3CDTF">2026-10-08T17:49:33Z</dcterms:modified>
</cp:coreProperties>
</file>